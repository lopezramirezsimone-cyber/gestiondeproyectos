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E0A3E4F-F919-4CB3-8CA9-FBDBA2E4CC0D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B2E444C-F3F7-48B2-A51E-C597EA8E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5A16819-99B7-4E3E-9466-77291AABE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2CF63870-FB1C-4FA6-8C2D-9F359568D938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4134F662-3A3C-4FF1-88BB-69D181970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9E3BA82F-F91E-4E4E-9468-940F0A529AB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DAD0108-4AB4-4AA8-9E9C-2D2BCC400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82F713C7-7713-423F-9F1B-CE13352E8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02042081-53D2-4DA7-89D8-B40000B1606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0F525A4-3289-4D82-A40C-6B7441A9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C266093A-40F5-42AA-9D1F-FBE4F5346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952832D3-CB85-45CA-8E19-9926A76561B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7D593D1D-246A-4A95-A84C-86F9B993291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3279BD1-C05F-4198-8433-DA6D968D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99357BF4-1975-4686-986D-0C28962E1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ABAD217-BA23-480A-ADAC-28C1E2821384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71B3C61-A478-48BC-8DD7-4263EDEAC8D7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9D6D41-F273-429E-B77C-3BBF6A81A59D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7A62043-ACB2-4829-8B10-1264EAD04BDA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65B784B-9933-4C55-8ECE-5CE013AA87AA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82C3CAD-5834-4AAD-8983-410BF3318D57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ED12B1-3BA1-4E7E-B059-4E1FFBCBDA23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F03AF63-4D80-4232-8FFF-C1AC8C49BF62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D2AD612-A66B-43D2-91D0-093739E6C8D1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3.3 · Banco de ejercicios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7A33324-77E9-4189-A75C-1E72EB9FB521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</a:t>
            </a:r>
            <a:r>
              <a:rPr sz="1650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Comalapa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, Chiapas. </a:t>
            </a:r>
            <a:r>
              <a:rPr lang="es-MX" sz="165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06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s-MX" sz="165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de septiembre 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de 2026.</a:t>
            </a:r>
          </a:p>
        </p:txBody>
      </p:sp>
    </p:spTree>
    <p:extLst>
      <p:ext uri="{BB962C8B-B14F-4D97-AF65-F5344CB8AC3E}">
        <p14:creationId xmlns:p14="http://schemas.microsoft.com/office/powerpoint/2010/main" val="101593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E875EA7-4C4A-4F2D-9898-D99B83AA5D5F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21408F-A510-4359-91C9-326AF0A288E5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3AFECE-9091-469F-843F-8563543B53F4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banco de ejercicios aplica herramientas de planeación a ReservaLab, MaterialControl y TurnoCampus. Los casos presentan cronogramas, división de entregables, responsabilidades, riesgos y cálculo de la ruta crítica. Cada solución muestra una forma de organizar el trabajo y revisar sus condiciones de entrega.</a:t>
            </a:r>
          </a:p>
        </p:txBody>
      </p:sp>
    </p:spTree>
    <p:extLst>
      <p:ext uri="{BB962C8B-B14F-4D97-AF65-F5344CB8AC3E}">
        <p14:creationId xmlns:p14="http://schemas.microsoft.com/office/powerpoint/2010/main" val="108785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174BF95-81C6-4965-AF8A-CE02E75B6609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4D9AE09-DBC0-451B-9144-DC74F2B68FAA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0A8F573-7D5C-4D7C-AAAF-6FC7E91798B7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Resolver casos concretos permite comprender cómo se relacionan las tareas con los tiempos y los responsables. Los ejercicios ayudan a reconocer dependencias, comparar prioridades y calcular el efecto de una actividad en el plazo total. Esto permite fundamentar las decisiones de planeación con datos claros.</a:t>
            </a:r>
          </a:p>
        </p:txBody>
      </p:sp>
    </p:spTree>
    <p:extLst>
      <p:ext uri="{BB962C8B-B14F-4D97-AF65-F5344CB8AC3E}">
        <p14:creationId xmlns:p14="http://schemas.microsoft.com/office/powerpoint/2010/main" val="211709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71F162D-8D14-4052-8898-2D3FDE77FA83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1: cronograma de ReservaLab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5B35F1A-EFD1-44D6-9827-A6C6DAAE218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21C6FBD-4622-458F-99C1-DD9FEF0479F4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Planteamiento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84A0C56-7718-4EE9-B025-AEA2F5EDC3A5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Distribuir en seis semanas los requisitos, el diseño, el desarrollo de reservas, la revisión y la entrega.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1B88883-C5FE-4119-A4A7-29E2F7A81E6F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Solución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EC8FED6-369C-48B6-A2FE-82F3F900108C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Requisitos: semana 1.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Diseño: semana 2.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Reservas: semanas 3 y 4.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Validación: semana 5.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Entrega: semana 6.</a:t>
            </a:r>
          </a:p>
        </p:txBody>
      </p:sp>
    </p:spTree>
    <p:extLst>
      <p:ext uri="{BB962C8B-B14F-4D97-AF65-F5344CB8AC3E}">
        <p14:creationId xmlns:p14="http://schemas.microsoft.com/office/powerpoint/2010/main" val="110909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4FF2A478-47DF-4A64-9320-FA9AF306B09C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B50A515-A2EF-42AB-8818-39D64361E675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1: representación del cronograma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F68C01-AA96-4C59-B749-F8ECF7201F3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2769F5A-3B1B-4DD8-BA9E-D9C8296A909D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Etapa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EDA2183-F376-4859-B15C-32CE0414457F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B0DCFB-948E-45C3-8F9D-A1B4A315A545}"/>
              </a:ext>
            </a:extLst>
          </p:cNvPr>
          <p:cNvSpPr>
            <a:spLocks noGrp="1"/>
          </p:cNvSpPr>
          <p:nvPr/>
        </p:nvSpPr>
        <p:spPr>
          <a:xfrm>
            <a:off x="59245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5570CBA-C4D4-4077-8F4A-CFA3F62101AC}"/>
              </a:ext>
            </a:extLst>
          </p:cNvPr>
          <p:cNvSpPr>
            <a:spLocks noGrp="1"/>
          </p:cNvSpPr>
          <p:nvPr/>
        </p:nvSpPr>
        <p:spPr>
          <a:xfrm>
            <a:off x="69913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592715D-DC81-4554-8ED2-3FAEAB40C516}"/>
              </a:ext>
            </a:extLst>
          </p:cNvPr>
          <p:cNvSpPr>
            <a:spLocks noGrp="1"/>
          </p:cNvSpPr>
          <p:nvPr/>
        </p:nvSpPr>
        <p:spPr>
          <a:xfrm>
            <a:off x="80581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F0015F1-4ECE-4E80-8CA5-2294F11B6227}"/>
              </a:ext>
            </a:extLst>
          </p:cNvPr>
          <p:cNvSpPr>
            <a:spLocks noGrp="1"/>
          </p:cNvSpPr>
          <p:nvPr/>
        </p:nvSpPr>
        <p:spPr>
          <a:xfrm>
            <a:off x="91249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5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4F6CE38-8F7F-49D9-B155-9437F7C09850}"/>
              </a:ext>
            </a:extLst>
          </p:cNvPr>
          <p:cNvSpPr>
            <a:spLocks noGrp="1"/>
          </p:cNvSpPr>
          <p:nvPr/>
        </p:nvSpPr>
        <p:spPr>
          <a:xfrm>
            <a:off x="10191750" y="200025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7AF21C3-D826-4AF3-BF79-9350058428EA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Requisitos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CF71953-B9D4-42AB-92B7-95AD33C376D0}"/>
              </a:ext>
            </a:extLst>
          </p:cNvPr>
          <p:cNvSpPr>
            <a:spLocks noGrp="1"/>
          </p:cNvSpPr>
          <p:nvPr/>
        </p:nvSpPr>
        <p:spPr>
          <a:xfrm>
            <a:off x="4857750" y="2695575"/>
            <a:ext cx="9525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2AEE8F-7A26-4450-B807-61B640D6A7D2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CC3CDB7-EDAA-4B79-9CCD-4F43A953F647}"/>
              </a:ext>
            </a:extLst>
          </p:cNvPr>
          <p:cNvSpPr>
            <a:spLocks noGrp="1"/>
          </p:cNvSpPr>
          <p:nvPr/>
        </p:nvSpPr>
        <p:spPr>
          <a:xfrm>
            <a:off x="5924550" y="3286125"/>
            <a:ext cx="9525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89ED46B-3DEB-429B-AFB1-1EC23A599239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476F61A-5B0A-4EFA-B795-958929C0F854}"/>
              </a:ext>
            </a:extLst>
          </p:cNvPr>
          <p:cNvSpPr>
            <a:spLocks noGrp="1"/>
          </p:cNvSpPr>
          <p:nvPr/>
        </p:nvSpPr>
        <p:spPr>
          <a:xfrm>
            <a:off x="6991350" y="3876675"/>
            <a:ext cx="20193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99BDD18-9808-4A48-BDCA-6F66EB6B8B8E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D93F55D-9F56-472D-BF92-23B40EA6B3DE}"/>
              </a:ext>
            </a:extLst>
          </p:cNvPr>
          <p:cNvSpPr>
            <a:spLocks noGrp="1"/>
          </p:cNvSpPr>
          <p:nvPr/>
        </p:nvSpPr>
        <p:spPr>
          <a:xfrm>
            <a:off x="9124950" y="4467225"/>
            <a:ext cx="9525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C47DED4-B880-4212-B567-28A05B0E4811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32C594D-6CF0-48F7-B63A-E3050A2DA70C}"/>
              </a:ext>
            </a:extLst>
          </p:cNvPr>
          <p:cNvSpPr>
            <a:spLocks noGrp="1"/>
          </p:cNvSpPr>
          <p:nvPr/>
        </p:nvSpPr>
        <p:spPr>
          <a:xfrm>
            <a:off x="10191750" y="5057775"/>
            <a:ext cx="952500" cy="285750"/>
          </a:xfrm>
          <a:prstGeom prst="rect">
            <a:avLst/>
          </a:prstGeom>
          <a:solidFill>
            <a:srgbClr val="BAC5D7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070089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D71E085-5061-4675-8054-BD132810129A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2: EDT de MaterialControl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B21B87A-34E8-48CF-8855-E22AA262517A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164D44-1E22-4132-AD1D-440981F13E43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Planteamiento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B6986B-E048-4CA1-9C24-216422CB7725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Dividir el sistema en paquetes de trabajo que permitan identificar sus entregables principales.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4EF8A2B-0F60-482D-9249-E01DB7B044DE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Solución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AC56981-647C-466C-81FA-7F6AFD1FCF70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Definición: requisitos y reglas.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Construcción: catálogo, préstamos y devoluciones.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Entrega: revisión, manual y aceptación.</a:t>
            </a:r>
          </a:p>
        </p:txBody>
      </p:sp>
    </p:spTree>
    <p:extLst>
      <p:ext uri="{BB962C8B-B14F-4D97-AF65-F5344CB8AC3E}">
        <p14:creationId xmlns:p14="http://schemas.microsoft.com/office/powerpoint/2010/main" val="595992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9A833D82-D757-4F0F-B1F6-3E86E2E42B36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C000D7-DBD5-4D46-8015-2A47F9AE1847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2: estructura de entregables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0208743-A35F-4612-9770-730F6780043D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7490F7-4781-45C7-A957-E64FFFE8F907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Definición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E101FD-4A7E-463E-953C-4BBF4B3A0B49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333375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1.1 Requisitos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1.2 Reglas de inventario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1.3 Alcance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0B06F69-6282-4B16-A78C-9630205B6243}"/>
              </a:ext>
            </a:extLst>
          </p:cNvPr>
          <p:cNvSpPr>
            <a:spLocks noGrp="1"/>
          </p:cNvSpPr>
          <p:nvPr/>
        </p:nvSpPr>
        <p:spPr>
          <a:xfrm>
            <a:off x="4476750" y="223837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Construcción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818326-4E1A-4803-A9A2-80D733E690D2}"/>
              </a:ext>
            </a:extLst>
          </p:cNvPr>
          <p:cNvSpPr>
            <a:spLocks noGrp="1"/>
          </p:cNvSpPr>
          <p:nvPr/>
        </p:nvSpPr>
        <p:spPr>
          <a:xfrm>
            <a:off x="4476750" y="3143250"/>
            <a:ext cx="333375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2.1 Catálogo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2.2 Préstamos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2.3 Devoluciones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A3FFB24-D44A-4163-B956-534CCDF8C45B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Entrega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EC8581-6890-430D-A79F-0FDE6BB26444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333375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3.1 Revisión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3.2 Manual de uso</a:t>
            </a:r>
          </a:p>
          <a:p>
            <a:pPr>
              <a:defRPr sz="20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3.3 Aceptación</a:t>
            </a:r>
          </a:p>
        </p:txBody>
      </p:sp>
    </p:spTree>
    <p:extLst>
      <p:ext uri="{BB962C8B-B14F-4D97-AF65-F5344CB8AC3E}">
        <p14:creationId xmlns:p14="http://schemas.microsoft.com/office/powerpoint/2010/main" val="57358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90FB0E0C-70A2-4E8B-A750-D8231F831E28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4FB39F-E642-472E-980D-2AF74A49E410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2: matriz RACI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CF3A29-377C-443C-86A0-79E60C07AAC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ACABBC4-B401-43C3-8680-962F8B6080AE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9F58301-7A13-4B24-BF0A-4B0025E477C4}"/>
              </a:ext>
            </a:extLst>
          </p:cNvPr>
          <p:cNvSpPr>
            <a:spLocks noGrp="1"/>
          </p:cNvSpPr>
          <p:nvPr/>
        </p:nvSpPr>
        <p:spPr>
          <a:xfrm>
            <a:off x="4238625" y="2095500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6DB5-02E5-457E-8C7C-C65A24246B3C}"/>
              </a:ext>
            </a:extLst>
          </p:cNvPr>
          <p:cNvSpPr>
            <a:spLocks noGrp="1"/>
          </p:cNvSpPr>
          <p:nvPr/>
        </p:nvSpPr>
        <p:spPr>
          <a:xfrm>
            <a:off x="6048375" y="2095500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Desarrollo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A27EC5B-CFB3-4396-BC3E-FFA1C715EAAF}"/>
              </a:ext>
            </a:extLst>
          </p:cNvPr>
          <p:cNvSpPr>
            <a:spLocks noGrp="1"/>
          </p:cNvSpPr>
          <p:nvPr/>
        </p:nvSpPr>
        <p:spPr>
          <a:xfrm>
            <a:off x="7858125" y="2095500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780E53-6C8E-45F4-AA44-3002013E7E73}"/>
              </a:ext>
            </a:extLst>
          </p:cNvPr>
          <p:cNvSpPr>
            <a:spLocks noGrp="1"/>
          </p:cNvSpPr>
          <p:nvPr/>
        </p:nvSpPr>
        <p:spPr>
          <a:xfrm>
            <a:off x="9667875" y="2095500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Almacén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E351798-E5B5-46A7-9004-02E98DEB62F7}"/>
              </a:ext>
            </a:extLst>
          </p:cNvPr>
          <p:cNvSpPr>
            <a:spLocks noGrp="1"/>
          </p:cNvSpPr>
          <p:nvPr/>
        </p:nvSpPr>
        <p:spPr>
          <a:xfrm>
            <a:off x="714375" y="30003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Definir requisitos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0369B3A-3956-4FD9-8D2E-A7F63EBB94B2}"/>
              </a:ext>
            </a:extLst>
          </p:cNvPr>
          <p:cNvSpPr>
            <a:spLocks noGrp="1"/>
          </p:cNvSpPr>
          <p:nvPr/>
        </p:nvSpPr>
        <p:spPr>
          <a:xfrm>
            <a:off x="4238625" y="30003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973C9CA-59D9-4DC7-A0E4-C4F7F04E6874}"/>
              </a:ext>
            </a:extLst>
          </p:cNvPr>
          <p:cNvSpPr>
            <a:spLocks noGrp="1"/>
          </p:cNvSpPr>
          <p:nvPr/>
        </p:nvSpPr>
        <p:spPr>
          <a:xfrm>
            <a:off x="6048375" y="30003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8F87A-9B3F-4826-A2C5-040B37BA93CA}"/>
              </a:ext>
            </a:extLst>
          </p:cNvPr>
          <p:cNvSpPr>
            <a:spLocks noGrp="1"/>
          </p:cNvSpPr>
          <p:nvPr/>
        </p:nvSpPr>
        <p:spPr>
          <a:xfrm>
            <a:off x="7858125" y="30003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56970E1-D136-4AD4-96BA-9A67A93CC539}"/>
              </a:ext>
            </a:extLst>
          </p:cNvPr>
          <p:cNvSpPr>
            <a:spLocks noGrp="1"/>
          </p:cNvSpPr>
          <p:nvPr/>
        </p:nvSpPr>
        <p:spPr>
          <a:xfrm>
            <a:off x="9667875" y="30003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7402640-EBB8-43EC-B1D7-82633F31ED44}"/>
              </a:ext>
            </a:extLst>
          </p:cNvPr>
          <p:cNvSpPr>
            <a:spLocks noGrp="1"/>
          </p:cNvSpPr>
          <p:nvPr/>
        </p:nvSpPr>
        <p:spPr>
          <a:xfrm>
            <a:off x="714375" y="36099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Preparar el catálogo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5406986-A942-4A19-AAC4-5E87BAA75624}"/>
              </a:ext>
            </a:extLst>
          </p:cNvPr>
          <p:cNvSpPr>
            <a:spLocks noGrp="1"/>
          </p:cNvSpPr>
          <p:nvPr/>
        </p:nvSpPr>
        <p:spPr>
          <a:xfrm>
            <a:off x="4238625" y="36099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7EB616-9A5B-4952-8B7C-6984F32957AF}"/>
              </a:ext>
            </a:extLst>
          </p:cNvPr>
          <p:cNvSpPr>
            <a:spLocks noGrp="1"/>
          </p:cNvSpPr>
          <p:nvPr/>
        </p:nvSpPr>
        <p:spPr>
          <a:xfrm>
            <a:off x="6048375" y="36099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7923135-8399-46C0-A24A-D1250FDA0AD3}"/>
              </a:ext>
            </a:extLst>
          </p:cNvPr>
          <p:cNvSpPr>
            <a:spLocks noGrp="1"/>
          </p:cNvSpPr>
          <p:nvPr/>
        </p:nvSpPr>
        <p:spPr>
          <a:xfrm>
            <a:off x="7858125" y="36099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743F28C-F391-46A6-840A-12A5BD252FDE}"/>
              </a:ext>
            </a:extLst>
          </p:cNvPr>
          <p:cNvSpPr>
            <a:spLocks noGrp="1"/>
          </p:cNvSpPr>
          <p:nvPr/>
        </p:nvSpPr>
        <p:spPr>
          <a:xfrm>
            <a:off x="9667875" y="36099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9BA632C-0390-4F64-879B-A9EA512D7838}"/>
              </a:ext>
            </a:extLst>
          </p:cNvPr>
          <p:cNvSpPr>
            <a:spLocks noGrp="1"/>
          </p:cNvSpPr>
          <p:nvPr/>
        </p:nvSpPr>
        <p:spPr>
          <a:xfrm>
            <a:off x="714375" y="42195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préstamos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3CA2885-59D9-4768-B268-4FEA017C653E}"/>
              </a:ext>
            </a:extLst>
          </p:cNvPr>
          <p:cNvSpPr>
            <a:spLocks noGrp="1"/>
          </p:cNvSpPr>
          <p:nvPr/>
        </p:nvSpPr>
        <p:spPr>
          <a:xfrm>
            <a:off x="4238625" y="42195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296A3A4-A5E9-4F7C-92E0-2FD184A9FBDF}"/>
              </a:ext>
            </a:extLst>
          </p:cNvPr>
          <p:cNvSpPr>
            <a:spLocks noGrp="1"/>
          </p:cNvSpPr>
          <p:nvPr/>
        </p:nvSpPr>
        <p:spPr>
          <a:xfrm>
            <a:off x="6048375" y="42195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BDE94F1-1CA6-4794-9B2F-62B17C506A39}"/>
              </a:ext>
            </a:extLst>
          </p:cNvPr>
          <p:cNvSpPr>
            <a:spLocks noGrp="1"/>
          </p:cNvSpPr>
          <p:nvPr/>
        </p:nvSpPr>
        <p:spPr>
          <a:xfrm>
            <a:off x="7858125" y="42195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2BEA16C-B777-4B08-8C25-68ED5BBC7533}"/>
              </a:ext>
            </a:extLst>
          </p:cNvPr>
          <p:cNvSpPr>
            <a:spLocks noGrp="1"/>
          </p:cNvSpPr>
          <p:nvPr/>
        </p:nvSpPr>
        <p:spPr>
          <a:xfrm>
            <a:off x="9667875" y="42195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39D2DBD-683A-4DAB-8613-47C0C6B230C6}"/>
              </a:ext>
            </a:extLst>
          </p:cNvPr>
          <p:cNvSpPr>
            <a:spLocks noGrp="1"/>
          </p:cNvSpPr>
          <p:nvPr/>
        </p:nvSpPr>
        <p:spPr>
          <a:xfrm>
            <a:off x="714375" y="48291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Aceptar la entrega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9FB57C9-6EF7-45C2-B197-7A9221F93D7F}"/>
              </a:ext>
            </a:extLst>
          </p:cNvPr>
          <p:cNvSpPr>
            <a:spLocks noGrp="1"/>
          </p:cNvSpPr>
          <p:nvPr/>
        </p:nvSpPr>
        <p:spPr>
          <a:xfrm>
            <a:off x="4238625" y="48291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69CC901-ED57-4740-927F-E6B71BE914F6}"/>
              </a:ext>
            </a:extLst>
          </p:cNvPr>
          <p:cNvSpPr>
            <a:spLocks noGrp="1"/>
          </p:cNvSpPr>
          <p:nvPr/>
        </p:nvSpPr>
        <p:spPr>
          <a:xfrm>
            <a:off x="6048375" y="48291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F9BA1B2-BFC1-48BA-B54E-14DC90E5847E}"/>
              </a:ext>
            </a:extLst>
          </p:cNvPr>
          <p:cNvSpPr>
            <a:spLocks noGrp="1"/>
          </p:cNvSpPr>
          <p:nvPr/>
        </p:nvSpPr>
        <p:spPr>
          <a:xfrm>
            <a:off x="7858125" y="48291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7D6C6ED-B7AB-47FB-B778-96FC70BC69C6}"/>
              </a:ext>
            </a:extLst>
          </p:cNvPr>
          <p:cNvSpPr>
            <a:spLocks noGrp="1"/>
          </p:cNvSpPr>
          <p:nvPr/>
        </p:nvSpPr>
        <p:spPr>
          <a:xfrm>
            <a:off x="9667875" y="48291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7DC07FD-C9A7-4058-A8DD-78CAD81FAEE5}"/>
              </a:ext>
            </a:extLst>
          </p:cNvPr>
          <p:cNvSpPr>
            <a:spLocks noGrp="1"/>
          </p:cNvSpPr>
          <p:nvPr/>
        </p:nvSpPr>
        <p:spPr>
          <a:xfrm>
            <a:off x="714375" y="59055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R: realiza. A: aprueba. C: se consulta. I: recibe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96530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F2ADFA6-AF24-4EE5-94BA-A56ED6C30289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3: etapas de TurnoCampus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A842B05-5A61-41DF-87CA-79DA0733B6FE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3FB3CF0-3DE2-4072-B345-246C4E4721BD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Planteamiento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9355EB1-99DF-410F-9DC4-0466AE7E9997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Ordenar el desarrollo de una agenda de citas en cuatro etapas.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C353C7B-7BAD-4B59-869C-E8613DC1D15C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Solución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FE31162-FEEB-44EC-A1F4-22834318F69F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Planeación: definir servicios y horarios.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Diseño: organizar la interfaz.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Desarrollo: agendar y cancelar citas.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Cierre: validar cupos y documentar.</a:t>
            </a:r>
          </a:p>
        </p:txBody>
      </p:sp>
    </p:spTree>
    <p:extLst>
      <p:ext uri="{BB962C8B-B14F-4D97-AF65-F5344CB8AC3E}">
        <p14:creationId xmlns:p14="http://schemas.microsoft.com/office/powerpoint/2010/main" val="818586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0DDD80B-D759-4201-9450-4A2F71904AF3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4: evaluación de riesgos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3672590-4C18-4782-B5C4-A84423D77F2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8D5E13A-B1E6-4F35-A154-DB4EEE7D6A9D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Planteamiento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5C6D43-3132-4A0B-AA30-93610ACAA736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Valorar riesgos de TurnoCampus con una escala de 1 a 3 para probabilidad e impacto.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5600E08-710D-4945-9B61-F45B041A8BD8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Solución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5D6AC76-97E0-4619-A5CF-BF90AF592A06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Multiplicar probabilidad por impacto.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Una cita duplicada obtiene 3 × 3 = 9.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Su prioridad es alta y requiere validar el cupo antes de confirmar.</a:t>
            </a:r>
          </a:p>
        </p:txBody>
      </p:sp>
    </p:spTree>
    <p:extLst>
      <p:ext uri="{BB962C8B-B14F-4D97-AF65-F5344CB8AC3E}">
        <p14:creationId xmlns:p14="http://schemas.microsoft.com/office/powerpoint/2010/main" val="1726129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909B79AA-E9BE-4B50-9265-D0651DC2574D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TURNOCAMPUS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71B6FB8-9C40-4DDE-89C2-AEA30A2B17DA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4: matriz de riesgos resuelta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8E8C977-27E9-457C-89A4-75F7385F2C51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8F9AB65-1B52-4DA6-8AA0-209BA0993C24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Riesgo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F9DE917-0772-4C1F-A6AD-33D0E7537771}"/>
              </a:ext>
            </a:extLst>
          </p:cNvPr>
          <p:cNvSpPr>
            <a:spLocks noGrp="1"/>
          </p:cNvSpPr>
          <p:nvPr/>
        </p:nvSpPr>
        <p:spPr>
          <a:xfrm>
            <a:off x="4429125" y="2095500"/>
            <a:ext cx="1285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Probabilidad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DDC007-7541-4F45-B504-01450478928F}"/>
              </a:ext>
            </a:extLst>
          </p:cNvPr>
          <p:cNvSpPr>
            <a:spLocks noGrp="1"/>
          </p:cNvSpPr>
          <p:nvPr/>
        </p:nvSpPr>
        <p:spPr>
          <a:xfrm>
            <a:off x="5857875" y="2095500"/>
            <a:ext cx="1238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8322B8-C092-472F-B3CB-EFC9AAD0B893}"/>
              </a:ext>
            </a:extLst>
          </p:cNvPr>
          <p:cNvSpPr>
            <a:spLocks noGrp="1"/>
          </p:cNvSpPr>
          <p:nvPr/>
        </p:nvSpPr>
        <p:spPr>
          <a:xfrm>
            <a:off x="7191375" y="2095500"/>
            <a:ext cx="1095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× I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A9D117-3C35-492D-8ECC-D3A24FBCA6B4}"/>
              </a:ext>
            </a:extLst>
          </p:cNvPr>
          <p:cNvSpPr>
            <a:spLocks noGrp="1"/>
          </p:cNvSpPr>
          <p:nvPr/>
        </p:nvSpPr>
        <p:spPr>
          <a:xfrm>
            <a:off x="8429625" y="20955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Respuesta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94EA708-A760-4D31-97C1-F992FDD17CD7}"/>
              </a:ext>
            </a:extLst>
          </p:cNvPr>
          <p:cNvSpPr>
            <a:spLocks noGrp="1"/>
          </p:cNvSpPr>
          <p:nvPr/>
        </p:nvSpPr>
        <p:spPr>
          <a:xfrm>
            <a:off x="714375" y="29527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Citas duplicadas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9C31DE-B062-401B-862F-2931D91B19B4}"/>
              </a:ext>
            </a:extLst>
          </p:cNvPr>
          <p:cNvSpPr>
            <a:spLocks noGrp="1"/>
          </p:cNvSpPr>
          <p:nvPr/>
        </p:nvSpPr>
        <p:spPr>
          <a:xfrm>
            <a:off x="4429125" y="29527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94F04B2-BE91-483A-A16F-1B4E1F303E7C}"/>
              </a:ext>
            </a:extLst>
          </p:cNvPr>
          <p:cNvSpPr>
            <a:spLocks noGrp="1"/>
          </p:cNvSpPr>
          <p:nvPr/>
        </p:nvSpPr>
        <p:spPr>
          <a:xfrm>
            <a:off x="5857875" y="29527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12D12C4-4A28-4FA7-8B25-B1AD542B3EEC}"/>
              </a:ext>
            </a:extLst>
          </p:cNvPr>
          <p:cNvSpPr>
            <a:spLocks noGrp="1"/>
          </p:cNvSpPr>
          <p:nvPr/>
        </p:nvSpPr>
        <p:spPr>
          <a:xfrm>
            <a:off x="7191375" y="2952750"/>
            <a:ext cx="109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DA03977-B61A-4A21-A495-EDBF3E5DE1A1}"/>
              </a:ext>
            </a:extLst>
          </p:cNvPr>
          <p:cNvSpPr>
            <a:spLocks noGrp="1"/>
          </p:cNvSpPr>
          <p:nvPr/>
        </p:nvSpPr>
        <p:spPr>
          <a:xfrm>
            <a:off x="8429625" y="29527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Validar cupos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AA45EC-A6EF-46C2-A38B-8AB08231232F}"/>
              </a:ext>
            </a:extLst>
          </p:cNvPr>
          <p:cNvSpPr>
            <a:spLocks noGrp="1"/>
          </p:cNvSpPr>
          <p:nvPr/>
        </p:nvSpPr>
        <p:spPr>
          <a:xfrm>
            <a:off x="714375" y="36004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Caída de conexión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E726E9A-0E0D-4471-9BDA-8748FB4FE4B2}"/>
              </a:ext>
            </a:extLst>
          </p:cNvPr>
          <p:cNvSpPr>
            <a:spLocks noGrp="1"/>
          </p:cNvSpPr>
          <p:nvPr/>
        </p:nvSpPr>
        <p:spPr>
          <a:xfrm>
            <a:off x="4429125" y="36004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9F703EE-6EB1-4AF2-9472-5F9D6A067412}"/>
              </a:ext>
            </a:extLst>
          </p:cNvPr>
          <p:cNvSpPr>
            <a:spLocks noGrp="1"/>
          </p:cNvSpPr>
          <p:nvPr/>
        </p:nvSpPr>
        <p:spPr>
          <a:xfrm>
            <a:off x="5857875" y="36004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8FE793F-8D50-46FF-B855-58F3AC842482}"/>
              </a:ext>
            </a:extLst>
          </p:cNvPr>
          <p:cNvSpPr>
            <a:spLocks noGrp="1"/>
          </p:cNvSpPr>
          <p:nvPr/>
        </p:nvSpPr>
        <p:spPr>
          <a:xfrm>
            <a:off x="7191375" y="3600450"/>
            <a:ext cx="109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1676B9C-A2AC-4FAA-B301-2427B0726E77}"/>
              </a:ext>
            </a:extLst>
          </p:cNvPr>
          <p:cNvSpPr>
            <a:spLocks noGrp="1"/>
          </p:cNvSpPr>
          <p:nvPr/>
        </p:nvSpPr>
        <p:spPr>
          <a:xfrm>
            <a:off x="8429625" y="36004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Respaldo y reintento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E1300DE-553F-4BE3-9353-5795EBC24969}"/>
              </a:ext>
            </a:extLst>
          </p:cNvPr>
          <p:cNvSpPr>
            <a:spLocks noGrp="1"/>
          </p:cNvSpPr>
          <p:nvPr/>
        </p:nvSpPr>
        <p:spPr>
          <a:xfrm>
            <a:off x="714375" y="42481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Cambio de horario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944F37A-678B-4D39-9CB2-32B2983B38E5}"/>
              </a:ext>
            </a:extLst>
          </p:cNvPr>
          <p:cNvSpPr>
            <a:spLocks noGrp="1"/>
          </p:cNvSpPr>
          <p:nvPr/>
        </p:nvSpPr>
        <p:spPr>
          <a:xfrm>
            <a:off x="4429125" y="42481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F63A20E-0C9C-4B02-9BED-393849A787F0}"/>
              </a:ext>
            </a:extLst>
          </p:cNvPr>
          <p:cNvSpPr>
            <a:spLocks noGrp="1"/>
          </p:cNvSpPr>
          <p:nvPr/>
        </p:nvSpPr>
        <p:spPr>
          <a:xfrm>
            <a:off x="5857875" y="42481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CF726D5-FB4D-4EE8-A2C4-14E53199711C}"/>
              </a:ext>
            </a:extLst>
          </p:cNvPr>
          <p:cNvSpPr>
            <a:spLocks noGrp="1"/>
          </p:cNvSpPr>
          <p:nvPr/>
        </p:nvSpPr>
        <p:spPr>
          <a:xfrm>
            <a:off x="7191375" y="4248150"/>
            <a:ext cx="109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DDAE5E4-F6CA-484C-8709-B4B3DF9FFAAA}"/>
              </a:ext>
            </a:extLst>
          </p:cNvPr>
          <p:cNvSpPr>
            <a:spLocks noGrp="1"/>
          </p:cNvSpPr>
          <p:nvPr/>
        </p:nvSpPr>
        <p:spPr>
          <a:xfrm>
            <a:off x="8429625" y="42481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Confirmar con el área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670A392-6DC5-440C-907B-D2EA86FCDCD4}"/>
              </a:ext>
            </a:extLst>
          </p:cNvPr>
          <p:cNvSpPr>
            <a:spLocks noGrp="1"/>
          </p:cNvSpPr>
          <p:nvPr/>
        </p:nvSpPr>
        <p:spPr>
          <a:xfrm>
            <a:off x="714375" y="48958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Cancelación tardía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3B7846B-0736-48DC-80DA-B35EBCB74431}"/>
              </a:ext>
            </a:extLst>
          </p:cNvPr>
          <p:cNvSpPr>
            <a:spLocks noGrp="1"/>
          </p:cNvSpPr>
          <p:nvPr/>
        </p:nvSpPr>
        <p:spPr>
          <a:xfrm>
            <a:off x="4429125" y="48958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908C9C6-6B62-4E18-A128-EE8D7C89B915}"/>
              </a:ext>
            </a:extLst>
          </p:cNvPr>
          <p:cNvSpPr>
            <a:spLocks noGrp="1"/>
          </p:cNvSpPr>
          <p:nvPr/>
        </p:nvSpPr>
        <p:spPr>
          <a:xfrm>
            <a:off x="5857875" y="48958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4430D58-BEDD-4F4D-A761-3CF3FAEF33F0}"/>
              </a:ext>
            </a:extLst>
          </p:cNvPr>
          <p:cNvSpPr>
            <a:spLocks noGrp="1"/>
          </p:cNvSpPr>
          <p:nvPr/>
        </p:nvSpPr>
        <p:spPr>
          <a:xfrm>
            <a:off x="7191375" y="4895850"/>
            <a:ext cx="109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D52ABAC-0379-4008-8C79-8751ADAC6362}"/>
              </a:ext>
            </a:extLst>
          </p:cNvPr>
          <p:cNvSpPr>
            <a:spLocks noGrp="1"/>
          </p:cNvSpPr>
          <p:nvPr/>
        </p:nvSpPr>
        <p:spPr>
          <a:xfrm>
            <a:off x="8429625" y="48958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Liberar el cupo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329B311-35A9-44BF-88DD-B96DDED372E2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Escala: 1 baja, 2 media, 3 alta. Prioridad: 6–9 alta; 3–4 media; 1–2 baja.</a:t>
            </a:r>
          </a:p>
        </p:txBody>
      </p:sp>
    </p:spTree>
    <p:extLst>
      <p:ext uri="{BB962C8B-B14F-4D97-AF65-F5344CB8AC3E}">
        <p14:creationId xmlns:p14="http://schemas.microsoft.com/office/powerpoint/2010/main" val="51616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D1AB3AE-1D8F-4A87-8102-0053D183883B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7F2AC49-220C-481D-8EC4-708E5BB7588A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4: ruta crítica resuelta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F2AF40-B25E-4834-A988-AEF992317FD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4D12615-A9E9-4D83-B256-27575D56D154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Actividades y dependencias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8E5DBD-B9E7-4357-8FC6-A6BB7D8414B8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A: requisitos, 2 días.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B: diseño, 3 días; depende de A.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C: reservas, 5 días; depende de B.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D: permisos, 4 días; depende de B.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E: revisión, 2 días; depende de C y D.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F: entrega, 1 día; depende de E.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EA258FE-7136-4FA0-AFE3-2C8FFC87275D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Cálculo de las rutas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396386-27FC-4E9E-B185-4917893A093F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A–B–C–E–F = 2 + 3 + 5 + 2 + 1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Duración: 13 días.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A–B–D–E–F = 2 + 3 + 4 + 2 + 1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Duración: 12 días.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Ruta crítica: A–B–C–E–F.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Holgura de D: 1 día.</a:t>
            </a:r>
          </a:p>
        </p:txBody>
      </p:sp>
    </p:spTree>
    <p:extLst>
      <p:ext uri="{BB962C8B-B14F-4D97-AF65-F5344CB8AC3E}">
        <p14:creationId xmlns:p14="http://schemas.microsoft.com/office/powerpoint/2010/main" val="25916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836974E-01AC-40D4-87AD-AE4EF6541E5D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A91B74-227E-4486-8F77-7F51D542F4D5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738FBE-DE12-469F-9439-C523B44C7570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Los ejercicios permiten organizar el proyecto mediante herramientas que se complementan. El cronograma distribuye el trabajo, la EDT divide los entregables y la matriz RACI identifica la participación de cada rol. La valoración de riesgos establece prioridades y el cálculo de la ruta crítica muestra qué actividades determinan la duración total del caso.</a:t>
            </a:r>
          </a:p>
        </p:txBody>
      </p:sp>
    </p:spTree>
    <p:extLst>
      <p:ext uri="{BB962C8B-B14F-4D97-AF65-F5344CB8AC3E}">
        <p14:creationId xmlns:p14="http://schemas.microsoft.com/office/powerpoint/2010/main" val="20527182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Microsoft Office PowerPoint</Application>
  <DocSecurity>0</DocSecurity>
  <PresentationFormat>Panorámica</PresentationFormat>
  <Paragraphs>173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2026-10-04T03:27:07Z</dcterms:created>
  <dcterms:modified xsi:type="dcterms:W3CDTF">2026-10-04T09:35:42Z</dcterms:modified>
</cp:coreProperties>
</file>