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893F16CD-1042-43C6-892A-1E6EB2E6FD28}"/>
              </a:ext>
            </a:extLst>
          </p:cNvPr>
          <p:cNvSpPr>
            <a:spLocks noGrp="1"/>
          </p:cNvSpPr>
          <p:nvPr/>
        </p:nvSpPr>
        <p:spPr>
          <a:xfrm>
            <a:off x="5791200" y="22098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2AF6C98-0DDF-449A-9780-1046FCC4C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A66C586E-3893-4D5D-B993-2AFB2BF332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 rule">
            <a:extLst>
              <a:ext uri="{FF2B5EF4-FFF2-40B4-BE49-F238E27FC236}">
                <a16:creationId xmlns:a16="http://schemas.microsoft.com/office/drawing/2014/main" id="{98920334-B0E1-4CE2-BFDA-CBDF3F0A76D8}"/>
              </a:ext>
            </a:extLst>
          </p:cNvPr>
          <p:cNvSpPr>
            <a:spLocks noGrp="1"/>
          </p:cNvSpPr>
          <p:nvPr/>
        </p:nvSpPr>
        <p:spPr>
          <a:xfrm>
            <a:off x="5791200" y="24765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094DB1B0-206F-4E00-ACB3-0DB563D8A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BE358E72-E416-4321-B711-833F69637CBD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D8688ED9-6A38-4C0B-924F-D7A9958C1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DE71B757-2F54-4613-88BB-08B0393D5F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 rule">
            <a:extLst>
              <a:ext uri="{FF2B5EF4-FFF2-40B4-BE49-F238E27FC236}">
                <a16:creationId xmlns:a16="http://schemas.microsoft.com/office/drawing/2014/main" id="{4CB50E74-7B64-410F-9792-B6DEF53FCDFF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14E3548-A956-44E8-B9E0-8CDFBEEE4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5DD46027-7FDE-44AF-89D5-05A8CFA95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4" name="Right column">
            <a:extLst>
              <a:ext uri="{FF2B5EF4-FFF2-40B4-BE49-F238E27FC236}">
                <a16:creationId xmlns:a16="http://schemas.microsoft.com/office/drawing/2014/main" id="{42B7CFEC-1BCF-4F9F-8BF3-0287EBC8DD3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55F10B49-C2C8-4E20-9F7E-2D180047C6FA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CB80856-B122-4C1D-87AA-BA985221F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696A5840-484D-4FEC-8F66-825B59FC62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98882" y="190500"/>
            <a:ext cx="2136110" cy="1047750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572000" y="212651"/>
            <a:ext cx="3190875" cy="660548"/>
          </a:xfrm>
          <a:prstGeom prst="rect">
            <a:avLst/>
          </a:prstGeom>
        </p:spPr>
      </p:pic>
      <p:pic>
        <p:nvPicPr>
          <p:cNvPr id="16" name="Imagen 15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292953" y="361950"/>
            <a:ext cx="1369219" cy="9525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EF8B6B01-83CE-4925-971E-72C804A71B1D}"/>
              </a:ext>
            </a:extLst>
          </p:cNvPr>
          <p:cNvSpPr>
            <a:spLocks noGrp="1"/>
          </p:cNvSpPr>
          <p:nvPr/>
        </p:nvSpPr>
        <p:spPr>
          <a:xfrm>
            <a:off x="2381250" y="914400"/>
            <a:ext cx="7429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Instituto Tecnológico de Frontera Comalapa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6B4EA23-6BA2-4023-80FE-B5FAF9217079}"/>
              </a:ext>
            </a:extLst>
          </p:cNvPr>
          <p:cNvSpPr>
            <a:spLocks noGrp="1"/>
          </p:cNvSpPr>
          <p:nvPr/>
        </p:nvSpPr>
        <p:spPr>
          <a:xfrm>
            <a:off x="2381250" y="1371600"/>
            <a:ext cx="7429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Modalidad Mixta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8CDD52D-EF40-4E2C-8E39-A039330CAF75}"/>
              </a:ext>
            </a:extLst>
          </p:cNvPr>
          <p:cNvSpPr>
            <a:spLocks noGrp="1"/>
          </p:cNvSpPr>
          <p:nvPr/>
        </p:nvSpPr>
        <p:spPr>
          <a:xfrm>
            <a:off x="2381250" y="1800225"/>
            <a:ext cx="7429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Materia:</a:t>
            </a:r>
          </a:p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Gestión de proyectos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77C9C10-1F81-4921-BEEE-6A8851804EC4}"/>
              </a:ext>
            </a:extLst>
          </p:cNvPr>
          <p:cNvSpPr>
            <a:spLocks noGrp="1"/>
          </p:cNvSpPr>
          <p:nvPr/>
        </p:nvSpPr>
        <p:spPr>
          <a:xfrm>
            <a:off x="2381250" y="2314575"/>
            <a:ext cx="7429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Semestre:</a:t>
            </a:r>
          </a:p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Séptimo semestre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53AA14F-C36C-4C9E-950F-6BC2971F5BD0}"/>
              </a:ext>
            </a:extLst>
          </p:cNvPr>
          <p:cNvSpPr>
            <a:spLocks noGrp="1"/>
          </p:cNvSpPr>
          <p:nvPr/>
        </p:nvSpPr>
        <p:spPr>
          <a:xfrm>
            <a:off x="2381250" y="3038475"/>
            <a:ext cx="7429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Especialidad:</a:t>
            </a:r>
          </a:p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Ingeniería en Sistemas Computacionales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66C3F4B-3531-4D3C-A827-4D1FDE04EE57}"/>
              </a:ext>
            </a:extLst>
          </p:cNvPr>
          <p:cNvSpPr>
            <a:spLocks noGrp="1"/>
          </p:cNvSpPr>
          <p:nvPr/>
        </p:nvSpPr>
        <p:spPr>
          <a:xfrm>
            <a:off x="2381250" y="3800475"/>
            <a:ext cx="7429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Nombre del alumno: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1554C3B-A1EA-47DB-8535-BA417D1A6B01}"/>
              </a:ext>
            </a:extLst>
          </p:cNvPr>
          <p:cNvSpPr>
            <a:spLocks noGrp="1"/>
          </p:cNvSpPr>
          <p:nvPr/>
        </p:nvSpPr>
        <p:spPr>
          <a:xfrm>
            <a:off x="2381250" y="4076700"/>
            <a:ext cx="7429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Simone Belén López Ramírez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9954107-DC35-4770-8B88-37754118E1D1}"/>
              </a:ext>
            </a:extLst>
          </p:cNvPr>
          <p:cNvSpPr>
            <a:spLocks noGrp="1"/>
          </p:cNvSpPr>
          <p:nvPr/>
        </p:nvSpPr>
        <p:spPr>
          <a:xfrm>
            <a:off x="2381250" y="4562475"/>
            <a:ext cx="7429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Nombre del docente:</a:t>
            </a:r>
          </a:p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Ing. Francisco Javier Mingo Velazquez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D258C16-0493-4245-A157-A363C0F7F948}"/>
              </a:ext>
            </a:extLst>
          </p:cNvPr>
          <p:cNvSpPr>
            <a:spLocks noGrp="1"/>
          </p:cNvSpPr>
          <p:nvPr/>
        </p:nvSpPr>
        <p:spPr>
          <a:xfrm>
            <a:off x="2381250" y="5334000"/>
            <a:ext cx="7429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Nombre del trabajo:</a:t>
            </a:r>
          </a:p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Actividad 2.3 · Banco de ejercicios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2F11C8F-E56B-45AF-BCB2-F41C7C60DFB9}"/>
              </a:ext>
            </a:extLst>
          </p:cNvPr>
          <p:cNvSpPr>
            <a:spLocks noGrp="1"/>
          </p:cNvSpPr>
          <p:nvPr/>
        </p:nvSpPr>
        <p:spPr>
          <a:xfrm>
            <a:off x="2381249" y="6115050"/>
            <a:ext cx="90582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65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650" b="0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Frontera </a:t>
            </a:r>
            <a:r>
              <a:rPr sz="1650" b="0" dirty="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Comalapa</a:t>
            </a:r>
            <a:r>
              <a:rPr sz="1650" b="0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, Chiapas. </a:t>
            </a:r>
            <a:r>
              <a:rPr lang="es-MX" sz="1650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03 </a:t>
            </a:r>
            <a:r>
              <a:rPr sz="1650" b="0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de </a:t>
            </a:r>
            <a:r>
              <a:rPr lang="es-MX" sz="1650" b="0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 Septiembre </a:t>
            </a:r>
            <a:r>
              <a:rPr sz="1650" b="0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de 2026.</a:t>
            </a:r>
          </a:p>
        </p:txBody>
      </p:sp>
    </p:spTree>
    <p:extLst>
      <p:ext uri="{BB962C8B-B14F-4D97-AF65-F5344CB8AC3E}">
        <p14:creationId xmlns:p14="http://schemas.microsoft.com/office/powerpoint/2010/main" val="1922463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1712D539-BD6B-402E-930C-DA61FC045E77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Introducción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1F34139-841C-45C1-B352-BDC60BD5BA14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4777349-CD2E-434D-ACBE-7FD6482A7AC2}"/>
              </a:ext>
            </a:extLst>
          </p:cNvPr>
          <p:cNvSpPr>
            <a:spLocks noGrp="1"/>
          </p:cNvSpPr>
          <p:nvPr/>
        </p:nvSpPr>
        <p:spPr>
          <a:xfrm>
            <a:off x="762000" y="2238375"/>
            <a:ext cx="10477500" cy="3524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Este banco reúne tres ejercicios de organización para los proyectos MaterialControl, ReservaLab y TurnoCampus. En cada caso se define un problema de gestión, se propone una solución y se representa el plan mediante un cronograma, una distribución de Sprints o un tablero de tareas.</a:t>
            </a:r>
          </a:p>
        </p:txBody>
      </p:sp>
    </p:spTree>
    <p:extLst>
      <p:ext uri="{BB962C8B-B14F-4D97-AF65-F5344CB8AC3E}">
        <p14:creationId xmlns:p14="http://schemas.microsoft.com/office/powerpoint/2010/main" val="267262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0C3B7C6D-3B2D-428E-9F64-C202FB1859AA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Justificación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A34C32D-71B4-4AC3-A6DD-98496B19A410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20E2BC9-24F7-4BF3-BA13-C6B810FF1E0B}"/>
              </a:ext>
            </a:extLst>
          </p:cNvPr>
          <p:cNvSpPr>
            <a:spLocks noGrp="1"/>
          </p:cNvSpPr>
          <p:nvPr/>
        </p:nvSpPr>
        <p:spPr>
          <a:xfrm>
            <a:off x="762000" y="2238375"/>
            <a:ext cx="10477500" cy="3524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Resolver estos ejercicios permite aplicar los conceptos de gestión a situaciones concretas. Además de identificar actividades, se establecen dependencias, prioridades y reglas para revisar el trabajo. Así se puede comparar la utilidad de cada enfoque y reconocer cómo contribuye a ordenar un proyecto.</a:t>
            </a:r>
          </a:p>
        </p:txBody>
      </p:sp>
    </p:spTree>
    <p:extLst>
      <p:ext uri="{BB962C8B-B14F-4D97-AF65-F5344CB8AC3E}">
        <p14:creationId xmlns:p14="http://schemas.microsoft.com/office/powerpoint/2010/main" val="2037508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45DBC37F-431E-41DE-84A4-0FCC384F0537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Ejercicio 1: plan de MaterialControl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064BC0B-39F0-453C-9392-7370E9ADC6B1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8EB7F4C-6E46-4F21-96EE-90785DFEE0A2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4476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Planteamiento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6EDF9D5-6901-40C0-AE4E-A50FB8F63C26}"/>
              </a:ext>
            </a:extLst>
          </p:cNvPr>
          <p:cNvSpPr>
            <a:spLocks noGrp="1"/>
          </p:cNvSpPr>
          <p:nvPr/>
        </p:nvSpPr>
        <p:spPr>
          <a:xfrm>
            <a:off x="762000" y="2714625"/>
            <a:ext cx="447675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Organizar una primera versión que registre materiales y préstamos en seis semanas.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El catálogo debe estar disponible antes de registrar movimientos.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341AF5E-2F12-4C1C-B6C0-AB7A8DAB9192}"/>
              </a:ext>
            </a:extLst>
          </p:cNvPr>
          <p:cNvSpPr>
            <a:spLocks noGrp="1"/>
          </p:cNvSpPr>
          <p:nvPr/>
        </p:nvSpPr>
        <p:spPr>
          <a:xfrm>
            <a:off x="6191250" y="1952625"/>
            <a:ext cx="5143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Solución propuesta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79782BC-9AF2-4509-B6AF-D01D4E40369E}"/>
              </a:ext>
            </a:extLst>
          </p:cNvPr>
          <p:cNvSpPr>
            <a:spLocks noGrp="1"/>
          </p:cNvSpPr>
          <p:nvPr/>
        </p:nvSpPr>
        <p:spPr>
          <a:xfrm>
            <a:off x="6191250" y="2714625"/>
            <a:ext cx="514350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Definir alcance y requisitos.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Preparar el catálogo.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Registrar préstamos.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Revisar cantidades.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Documentar la entrega.</a:t>
            </a:r>
          </a:p>
        </p:txBody>
      </p:sp>
    </p:spTree>
    <p:extLst>
      <p:ext uri="{BB962C8B-B14F-4D97-AF65-F5344CB8AC3E}">
        <p14:creationId xmlns:p14="http://schemas.microsoft.com/office/powerpoint/2010/main" val="561438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7981B602-21ED-489E-B179-1FD31383BF55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Ejercicio 1: cronograma resuelto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A9580B0-7167-4D0B-92F7-DDA4EC88A72C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7831531-10ED-48A0-9110-271227CBC243}"/>
              </a:ext>
            </a:extLst>
          </p:cNvPr>
          <p:cNvSpPr>
            <a:spLocks noGrp="1"/>
          </p:cNvSpPr>
          <p:nvPr/>
        </p:nvSpPr>
        <p:spPr>
          <a:xfrm>
            <a:off x="762000" y="1905000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Actividad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E6D1455-B1AB-4D04-B4DE-92FA99E09A58}"/>
              </a:ext>
            </a:extLst>
          </p:cNvPr>
          <p:cNvSpPr>
            <a:spLocks noGrp="1"/>
          </p:cNvSpPr>
          <p:nvPr/>
        </p:nvSpPr>
        <p:spPr>
          <a:xfrm>
            <a:off x="5334000" y="1905000"/>
            <a:ext cx="857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S1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C3769F0-880E-48E6-B245-EEB5D794320F}"/>
              </a:ext>
            </a:extLst>
          </p:cNvPr>
          <p:cNvSpPr>
            <a:spLocks noGrp="1"/>
          </p:cNvSpPr>
          <p:nvPr/>
        </p:nvSpPr>
        <p:spPr>
          <a:xfrm>
            <a:off x="6238875" y="1905000"/>
            <a:ext cx="857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S2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1E89295-21AF-4CEC-AAE8-8024110B55F0}"/>
              </a:ext>
            </a:extLst>
          </p:cNvPr>
          <p:cNvSpPr>
            <a:spLocks noGrp="1"/>
          </p:cNvSpPr>
          <p:nvPr/>
        </p:nvSpPr>
        <p:spPr>
          <a:xfrm>
            <a:off x="7143750" y="1905000"/>
            <a:ext cx="857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S3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8A92FE1-8D53-4035-974A-6BDF50DFE6B8}"/>
              </a:ext>
            </a:extLst>
          </p:cNvPr>
          <p:cNvSpPr>
            <a:spLocks noGrp="1"/>
          </p:cNvSpPr>
          <p:nvPr/>
        </p:nvSpPr>
        <p:spPr>
          <a:xfrm>
            <a:off x="8048625" y="1905000"/>
            <a:ext cx="857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S4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DB5BA20-1680-4C0E-AF05-7C26A336FD33}"/>
              </a:ext>
            </a:extLst>
          </p:cNvPr>
          <p:cNvSpPr>
            <a:spLocks noGrp="1"/>
          </p:cNvSpPr>
          <p:nvPr/>
        </p:nvSpPr>
        <p:spPr>
          <a:xfrm>
            <a:off x="8953500" y="1905000"/>
            <a:ext cx="857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S5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7D43AA6-60C8-4348-AEBE-D4A8F022A2E6}"/>
              </a:ext>
            </a:extLst>
          </p:cNvPr>
          <p:cNvSpPr>
            <a:spLocks noGrp="1"/>
          </p:cNvSpPr>
          <p:nvPr/>
        </p:nvSpPr>
        <p:spPr>
          <a:xfrm>
            <a:off x="9858375" y="1905000"/>
            <a:ext cx="857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S6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792E5E3-4366-48B6-B0C0-255B5C6C5F28}"/>
              </a:ext>
            </a:extLst>
          </p:cNvPr>
          <p:cNvSpPr>
            <a:spLocks noGrp="1"/>
          </p:cNvSpPr>
          <p:nvPr/>
        </p:nvSpPr>
        <p:spPr>
          <a:xfrm>
            <a:off x="762000" y="2571750"/>
            <a:ext cx="4238625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Requisitos y alcance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C2EACED-432F-4A5B-90AC-EF215697DE83}"/>
              </a:ext>
            </a:extLst>
          </p:cNvPr>
          <p:cNvSpPr>
            <a:spLocks noGrp="1"/>
          </p:cNvSpPr>
          <p:nvPr/>
        </p:nvSpPr>
        <p:spPr>
          <a:xfrm>
            <a:off x="5334000" y="2609850"/>
            <a:ext cx="790575" cy="314325"/>
          </a:xfrm>
          <a:prstGeom prst="rect">
            <a:avLst/>
          </a:prstGeom>
          <a:solidFill>
            <a:srgbClr val="B6C4D9"/>
          </a:solidFill>
          <a:ln w="0">
            <a:noFill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6E2E04A-A953-4D4D-B927-73DEDDB6DB5E}"/>
              </a:ext>
            </a:extLst>
          </p:cNvPr>
          <p:cNvSpPr>
            <a:spLocks noGrp="1"/>
          </p:cNvSpPr>
          <p:nvPr/>
        </p:nvSpPr>
        <p:spPr>
          <a:xfrm>
            <a:off x="762000" y="3181350"/>
            <a:ext cx="4238625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Catálogo de materiales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AE8D27FA-3890-4FA3-95CE-E1F7062A4DED}"/>
              </a:ext>
            </a:extLst>
          </p:cNvPr>
          <p:cNvSpPr>
            <a:spLocks noGrp="1"/>
          </p:cNvSpPr>
          <p:nvPr/>
        </p:nvSpPr>
        <p:spPr>
          <a:xfrm>
            <a:off x="6238875" y="3219450"/>
            <a:ext cx="790575" cy="314325"/>
          </a:xfrm>
          <a:prstGeom prst="rect">
            <a:avLst/>
          </a:prstGeom>
          <a:solidFill>
            <a:srgbClr val="B6C4D9"/>
          </a:solidFill>
          <a:ln w="0">
            <a:noFill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FE6E3C08-93F5-48D8-86A2-B5BC912E5116}"/>
              </a:ext>
            </a:extLst>
          </p:cNvPr>
          <p:cNvSpPr>
            <a:spLocks noGrp="1"/>
          </p:cNvSpPr>
          <p:nvPr/>
        </p:nvSpPr>
        <p:spPr>
          <a:xfrm>
            <a:off x="762000" y="3790950"/>
            <a:ext cx="4238625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Movimientos y préstamos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D273223B-EBB9-474A-A03F-F95CF505EA0A}"/>
              </a:ext>
            </a:extLst>
          </p:cNvPr>
          <p:cNvSpPr>
            <a:spLocks noGrp="1"/>
          </p:cNvSpPr>
          <p:nvPr/>
        </p:nvSpPr>
        <p:spPr>
          <a:xfrm>
            <a:off x="7143750" y="3829050"/>
            <a:ext cx="1695450" cy="314325"/>
          </a:xfrm>
          <a:prstGeom prst="rect">
            <a:avLst/>
          </a:prstGeom>
          <a:solidFill>
            <a:srgbClr val="B6C4D9"/>
          </a:solidFill>
          <a:ln w="0">
            <a:noFill/>
          </a:ln>
        </p:spPr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2483980-551C-4174-8AAC-0AF200CEF8EE}"/>
              </a:ext>
            </a:extLst>
          </p:cNvPr>
          <p:cNvSpPr>
            <a:spLocks noGrp="1"/>
          </p:cNvSpPr>
          <p:nvPr/>
        </p:nvSpPr>
        <p:spPr>
          <a:xfrm>
            <a:off x="762000" y="4400550"/>
            <a:ext cx="4238625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Revisión y ajustes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2B642C06-784C-4326-B5C8-8B4646880E09}"/>
              </a:ext>
            </a:extLst>
          </p:cNvPr>
          <p:cNvSpPr>
            <a:spLocks noGrp="1"/>
          </p:cNvSpPr>
          <p:nvPr/>
        </p:nvSpPr>
        <p:spPr>
          <a:xfrm>
            <a:off x="8953500" y="4438650"/>
            <a:ext cx="790575" cy="314325"/>
          </a:xfrm>
          <a:prstGeom prst="rect">
            <a:avLst/>
          </a:prstGeom>
          <a:solidFill>
            <a:srgbClr val="B6C4D9"/>
          </a:solidFill>
          <a:ln w="0">
            <a:noFill/>
          </a:ln>
        </p:spPr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4E745411-197B-4C8F-913D-5626BDC26890}"/>
              </a:ext>
            </a:extLst>
          </p:cNvPr>
          <p:cNvSpPr>
            <a:spLocks noGrp="1"/>
          </p:cNvSpPr>
          <p:nvPr/>
        </p:nvSpPr>
        <p:spPr>
          <a:xfrm>
            <a:off x="762000" y="5010150"/>
            <a:ext cx="4238625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Documentación y entrega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DB46706A-0292-4C5D-A609-6E69B11852C1}"/>
              </a:ext>
            </a:extLst>
          </p:cNvPr>
          <p:cNvSpPr>
            <a:spLocks noGrp="1"/>
          </p:cNvSpPr>
          <p:nvPr/>
        </p:nvSpPr>
        <p:spPr>
          <a:xfrm>
            <a:off x="9858375" y="5048250"/>
            <a:ext cx="790575" cy="314325"/>
          </a:xfrm>
          <a:prstGeom prst="rect">
            <a:avLst/>
          </a:prstGeom>
          <a:solidFill>
            <a:srgbClr val="B6C4D9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1093871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06967048-B375-41EB-8826-F56167CB05BE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Ejercicio 1: criterios de control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1B31E17-F0E1-4164-A966-06565F6918C7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2B25533-29DE-4E7B-9048-B19FAD6B8C8F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4476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Entregables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C9C30B8-97E3-4E09-BD2C-8FE3834A2352}"/>
              </a:ext>
            </a:extLst>
          </p:cNvPr>
          <p:cNvSpPr>
            <a:spLocks noGrp="1"/>
          </p:cNvSpPr>
          <p:nvPr/>
        </p:nvSpPr>
        <p:spPr>
          <a:xfrm>
            <a:off x="762000" y="2714625"/>
            <a:ext cx="447675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Catálogo de materiales.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Registro de préstamos y devoluciones.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Documento con reglas de operación.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1EB0A3B-7AA8-4E8C-AA43-FFF1AA2EAAFD}"/>
              </a:ext>
            </a:extLst>
          </p:cNvPr>
          <p:cNvSpPr>
            <a:spLocks noGrp="1"/>
          </p:cNvSpPr>
          <p:nvPr/>
        </p:nvSpPr>
        <p:spPr>
          <a:xfrm>
            <a:off x="6191250" y="1952625"/>
            <a:ext cx="5143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Revisión del plan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FA87ACA-0312-4369-96C8-860BD4EA5005}"/>
              </a:ext>
            </a:extLst>
          </p:cNvPr>
          <p:cNvSpPr>
            <a:spLocks noGrp="1"/>
          </p:cNvSpPr>
          <p:nvPr/>
        </p:nvSpPr>
        <p:spPr>
          <a:xfrm>
            <a:off x="6191250" y="2714625"/>
            <a:ext cx="514350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Verificar que las cantidades no sean negativas.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Identificar retrasos por etapa.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Evaluar el efecto de nuevas funciones en el plazo.</a:t>
            </a:r>
          </a:p>
        </p:txBody>
      </p:sp>
    </p:spTree>
    <p:extLst>
      <p:ext uri="{BB962C8B-B14F-4D97-AF65-F5344CB8AC3E}">
        <p14:creationId xmlns:p14="http://schemas.microsoft.com/office/powerpoint/2010/main" val="475836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9BC1377-565B-41B4-932D-A35C096D5E42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Ejercicio 2: backlog de ReservaLab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19A43C6-B549-4D87-8912-276376E2124B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C5F9B2B-524F-4C0A-8F57-EE471DEDC878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4476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Historias de usuario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6A15841-84D3-47AA-9F07-112A4B2C78D3}"/>
              </a:ext>
            </a:extLst>
          </p:cNvPr>
          <p:cNvSpPr>
            <a:spLocks noGrp="1"/>
          </p:cNvSpPr>
          <p:nvPr/>
        </p:nvSpPr>
        <p:spPr>
          <a:xfrm>
            <a:off x="762000" y="2714625"/>
            <a:ext cx="447675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Como docente, quiero consultar horarios para elegir un laboratorio.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Como responsable, quiero revisar solicitudes para autorizar su uso.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076971E-261B-40F0-BA99-EE2B8CC3548D}"/>
              </a:ext>
            </a:extLst>
          </p:cNvPr>
          <p:cNvSpPr>
            <a:spLocks noGrp="1"/>
          </p:cNvSpPr>
          <p:nvPr/>
        </p:nvSpPr>
        <p:spPr>
          <a:xfrm>
            <a:off x="6191250" y="1952625"/>
            <a:ext cx="5143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Prioridad y aceptación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654B018-DAFE-4465-9305-2D344C0DB4D5}"/>
              </a:ext>
            </a:extLst>
          </p:cNvPr>
          <p:cNvSpPr>
            <a:spLocks noGrp="1"/>
          </p:cNvSpPr>
          <p:nvPr/>
        </p:nvSpPr>
        <p:spPr>
          <a:xfrm>
            <a:off x="6191250" y="2714625"/>
            <a:ext cx="514350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Primero: disponibilidad y solicitudes.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Después: aprobación e historial.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Aceptación: no permitir dos reservas aprobadas en el mismo horario.</a:t>
            </a:r>
          </a:p>
        </p:txBody>
      </p:sp>
    </p:spTree>
    <p:extLst>
      <p:ext uri="{BB962C8B-B14F-4D97-AF65-F5344CB8AC3E}">
        <p14:creationId xmlns:p14="http://schemas.microsoft.com/office/powerpoint/2010/main" val="952850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17B29D23-B97D-4802-B05D-9EBE4EF19EFE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Ejercicio 2: organización de Sprints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F5FE1C2-95ED-4ED3-8188-4E2F4E8ACF14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D3DD2BD-4242-495A-91F0-668C19069C09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3333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Sprint 1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C76F5F4-3984-4F68-8353-F7E0DB32BBDE}"/>
              </a:ext>
            </a:extLst>
          </p:cNvPr>
          <p:cNvSpPr>
            <a:spLocks noGrp="1"/>
          </p:cNvSpPr>
          <p:nvPr/>
        </p:nvSpPr>
        <p:spPr>
          <a:xfrm>
            <a:off x="762000" y="2857500"/>
            <a:ext cx="3333750" cy="2571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Consultar laboratorios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Ver disponibilidad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Registrar solicitudes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E0F85D5-6C41-424B-A774-92A627AC75A8}"/>
              </a:ext>
            </a:extLst>
          </p:cNvPr>
          <p:cNvSpPr>
            <a:spLocks noGrp="1"/>
          </p:cNvSpPr>
          <p:nvPr/>
        </p:nvSpPr>
        <p:spPr>
          <a:xfrm>
            <a:off x="4476750" y="2095500"/>
            <a:ext cx="3333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Sprint 2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B7330E4-9991-419E-AE74-CEBE277B4539}"/>
              </a:ext>
            </a:extLst>
          </p:cNvPr>
          <p:cNvSpPr>
            <a:spLocks noGrp="1"/>
          </p:cNvSpPr>
          <p:nvPr/>
        </p:nvSpPr>
        <p:spPr>
          <a:xfrm>
            <a:off x="4476750" y="2857500"/>
            <a:ext cx="3333750" cy="2571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Aprobar o rechazar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Evitar cruces de horario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Consultar historial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DC98648-01E3-4AFE-891F-7E398A09EA5C}"/>
              </a:ext>
            </a:extLst>
          </p:cNvPr>
          <p:cNvSpPr>
            <a:spLocks noGrp="1"/>
          </p:cNvSpPr>
          <p:nvPr/>
        </p:nvSpPr>
        <p:spPr>
          <a:xfrm>
            <a:off x="8191500" y="2095500"/>
            <a:ext cx="3333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Sprint 3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FC4AD96-0693-4B41-B2EB-3068627C9A44}"/>
              </a:ext>
            </a:extLst>
          </p:cNvPr>
          <p:cNvSpPr>
            <a:spLocks noGrp="1"/>
          </p:cNvSpPr>
          <p:nvPr/>
        </p:nvSpPr>
        <p:spPr>
          <a:xfrm>
            <a:off x="8191500" y="2857500"/>
            <a:ext cx="3333750" cy="2571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Revisar permisos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Validar reservas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Ajustar la interfaz</a:t>
            </a:r>
          </a:p>
        </p:txBody>
      </p:sp>
    </p:spTree>
    <p:extLst>
      <p:ext uri="{BB962C8B-B14F-4D97-AF65-F5344CB8AC3E}">
        <p14:creationId xmlns:p14="http://schemas.microsoft.com/office/powerpoint/2010/main" val="1470023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5096136-8143-424E-BBBA-E18327709F8F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Ejercicio 3: flujo de TurnoCampus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F696E4D-2D6C-45C7-9CC4-66D348E54E2C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C4635B8-5511-4133-A2D9-BAE143CAC167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4476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Planteamiento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F2A7A18-413E-42BB-9D63-CCFE818374F1}"/>
              </a:ext>
            </a:extLst>
          </p:cNvPr>
          <p:cNvSpPr>
            <a:spLocks noGrp="1"/>
          </p:cNvSpPr>
          <p:nvPr/>
        </p:nvSpPr>
        <p:spPr>
          <a:xfrm>
            <a:off x="762000" y="2714625"/>
            <a:ext cx="447675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Organizar las funciones de una agenda escolar y evitar comenzar demasiadas tareas al mismo tiempo.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D656E63-408D-458E-A0C8-03F7BE895758}"/>
              </a:ext>
            </a:extLst>
          </p:cNvPr>
          <p:cNvSpPr>
            <a:spLocks noGrp="1"/>
          </p:cNvSpPr>
          <p:nvPr/>
        </p:nvSpPr>
        <p:spPr>
          <a:xfrm>
            <a:off x="6191250" y="1952625"/>
            <a:ext cx="5143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Reglas de solución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46E2655-D2C5-40F1-8F04-DFB8EF886944}"/>
              </a:ext>
            </a:extLst>
          </p:cNvPr>
          <p:cNvSpPr>
            <a:spLocks noGrp="1"/>
          </p:cNvSpPr>
          <p:nvPr/>
        </p:nvSpPr>
        <p:spPr>
          <a:xfrm>
            <a:off x="6191250" y="2714625"/>
            <a:ext cx="514350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Limitar a dos tareas en curso.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Revisar cada función antes de finalizar.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Priorizar el registro de citas y la validación de horarios.</a:t>
            </a:r>
          </a:p>
        </p:txBody>
      </p:sp>
    </p:spTree>
    <p:extLst>
      <p:ext uri="{BB962C8B-B14F-4D97-AF65-F5344CB8AC3E}">
        <p14:creationId xmlns:p14="http://schemas.microsoft.com/office/powerpoint/2010/main" val="1973937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A0710176-ACCB-47D7-8733-F240A2D6B30B}"/>
              </a:ext>
            </a:extLst>
          </p:cNvPr>
          <p:cNvSpPr>
            <a:spLocks noGrp="1"/>
          </p:cNvSpPr>
          <p:nvPr/>
        </p:nvSpPr>
        <p:spPr>
          <a:xfrm>
            <a:off x="762000" y="3810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KANBAN · TURNOCAMPS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6B7E4D5-F740-4053-89A5-775144EE1619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Ejercicio 3: tablero de ejemplo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FBC6517-AABE-455B-97B9-185AF3B4A65A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EEA58F9-F1F0-405C-B2A9-8DA380B93510}"/>
              </a:ext>
            </a:extLst>
          </p:cNvPr>
          <p:cNvSpPr>
            <a:spLocks noGrp="1"/>
          </p:cNvSpPr>
          <p:nvPr/>
        </p:nvSpPr>
        <p:spPr>
          <a:xfrm>
            <a:off x="619125" y="2238375"/>
            <a:ext cx="2667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Pendiente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A866E1A-347A-475F-AF76-EF4CFB843354}"/>
              </a:ext>
            </a:extLst>
          </p:cNvPr>
          <p:cNvSpPr>
            <a:spLocks noGrp="1"/>
          </p:cNvSpPr>
          <p:nvPr/>
        </p:nvSpPr>
        <p:spPr>
          <a:xfrm>
            <a:off x="619125" y="3048000"/>
            <a:ext cx="2667000" cy="228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Historial de citas</a:t>
            </a:r>
          </a:p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Filtro por servicio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8D3A1ED-CCEC-4310-B8EB-D2C4B559C24C}"/>
              </a:ext>
            </a:extLst>
          </p:cNvPr>
          <p:cNvSpPr>
            <a:spLocks noGrp="1"/>
          </p:cNvSpPr>
          <p:nvPr/>
        </p:nvSpPr>
        <p:spPr>
          <a:xfrm>
            <a:off x="3524250" y="2238375"/>
            <a:ext cx="2667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En curso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AAA6197-FF8A-492D-9602-D4AF6413ED67}"/>
              </a:ext>
            </a:extLst>
          </p:cNvPr>
          <p:cNvSpPr>
            <a:spLocks noGrp="1"/>
          </p:cNvSpPr>
          <p:nvPr/>
        </p:nvSpPr>
        <p:spPr>
          <a:xfrm>
            <a:off x="3524250" y="3048000"/>
            <a:ext cx="2667000" cy="228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Agendar una cita</a:t>
            </a:r>
          </a:p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Límite: 2 tareas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8E957F4-3359-4182-87B6-1DC90124CE17}"/>
              </a:ext>
            </a:extLst>
          </p:cNvPr>
          <p:cNvSpPr>
            <a:spLocks noGrp="1"/>
          </p:cNvSpPr>
          <p:nvPr/>
        </p:nvSpPr>
        <p:spPr>
          <a:xfrm>
            <a:off x="6429375" y="2238375"/>
            <a:ext cx="2667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En revisión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24916A5-06A5-412E-A627-811804886CF7}"/>
              </a:ext>
            </a:extLst>
          </p:cNvPr>
          <p:cNvSpPr>
            <a:spLocks noGrp="1"/>
          </p:cNvSpPr>
          <p:nvPr/>
        </p:nvSpPr>
        <p:spPr>
          <a:xfrm>
            <a:off x="6429375" y="3048000"/>
            <a:ext cx="2667000" cy="228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Validar horarios</a:t>
            </a:r>
          </a:p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Límite: 2 tareas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EE8EB08-DB68-4A47-A698-D2BB03F91794}"/>
              </a:ext>
            </a:extLst>
          </p:cNvPr>
          <p:cNvSpPr>
            <a:spLocks noGrp="1"/>
          </p:cNvSpPr>
          <p:nvPr/>
        </p:nvSpPr>
        <p:spPr>
          <a:xfrm>
            <a:off x="9334500" y="2238375"/>
            <a:ext cx="2667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Finalizado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15710CF-6CAE-48FD-B9BC-32084A646588}"/>
              </a:ext>
            </a:extLst>
          </p:cNvPr>
          <p:cNvSpPr>
            <a:spLocks noGrp="1"/>
          </p:cNvSpPr>
          <p:nvPr/>
        </p:nvSpPr>
        <p:spPr>
          <a:xfrm>
            <a:off x="9334500" y="3048000"/>
            <a:ext cx="2667000" cy="228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Catálogo de servicios</a:t>
            </a:r>
          </a:p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Criterio: revisado</a:t>
            </a:r>
          </a:p>
        </p:txBody>
      </p:sp>
    </p:spTree>
    <p:extLst>
      <p:ext uri="{BB962C8B-B14F-4D97-AF65-F5344CB8AC3E}">
        <p14:creationId xmlns:p14="http://schemas.microsoft.com/office/powerpoint/2010/main" val="16776710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9CDD34F7-C99E-4767-BFA9-BD6DD6A208A0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Comparación de los ejercicios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48ED5EB-2E7F-42D8-BB81-A0EDC7CDB72A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7BEFC16-948E-4DA6-ADAC-2492AB15BCFF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4476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Qué se organiza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73F1183-705C-47CF-A356-C25DD0F8F6DE}"/>
              </a:ext>
            </a:extLst>
          </p:cNvPr>
          <p:cNvSpPr>
            <a:spLocks noGrp="1"/>
          </p:cNvSpPr>
          <p:nvPr/>
        </p:nvSpPr>
        <p:spPr>
          <a:xfrm>
            <a:off x="762000" y="2714625"/>
            <a:ext cx="447675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MaterialControl: etapas y dependencias.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ReservaLab: incrementos por Sprint.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TurnoCampus: flujo continuo de tareas.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14A051F-01DE-4C30-BB55-07694222BAEF}"/>
              </a:ext>
            </a:extLst>
          </p:cNvPr>
          <p:cNvSpPr>
            <a:spLocks noGrp="1"/>
          </p:cNvSpPr>
          <p:nvPr/>
        </p:nvSpPr>
        <p:spPr>
          <a:xfrm>
            <a:off x="6191250" y="1952625"/>
            <a:ext cx="5143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Qué se revisa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69C7707-EA4D-42B5-8AF1-CF78CF30F4C9}"/>
              </a:ext>
            </a:extLst>
          </p:cNvPr>
          <p:cNvSpPr>
            <a:spLocks noGrp="1"/>
          </p:cNvSpPr>
          <p:nvPr/>
        </p:nvSpPr>
        <p:spPr>
          <a:xfrm>
            <a:off x="6191250" y="2714625"/>
            <a:ext cx="514350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MaterialControl: entregables y plazos.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ReservaLab: cumplimiento del objetivo del Sprint.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TurnoCampus: límites de trabajo y bloqueos.</a:t>
            </a:r>
          </a:p>
        </p:txBody>
      </p:sp>
    </p:spTree>
    <p:extLst>
      <p:ext uri="{BB962C8B-B14F-4D97-AF65-F5344CB8AC3E}">
        <p14:creationId xmlns:p14="http://schemas.microsoft.com/office/powerpoint/2010/main" val="15370392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9ADF9D12-6EF2-4578-849A-CB71805A34CA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Conclusión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B4BB32D-8407-4274-913E-E43387069B93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1030819-64B7-4C52-AB36-D0EE4D445965}"/>
              </a:ext>
            </a:extLst>
          </p:cNvPr>
          <p:cNvSpPr>
            <a:spLocks noGrp="1"/>
          </p:cNvSpPr>
          <p:nvPr/>
        </p:nvSpPr>
        <p:spPr>
          <a:xfrm>
            <a:off x="762000" y="2238375"/>
            <a:ext cx="10477500" cy="3524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Los ejercicios muestran tres formas de dar orden al desarrollo de un sistema. El cronograma permite distribuir las etapas de MaterialControl, los Sprints agrupan funciones de ReservaLab y el tablero muestra el flujo de TurnoCampus. La comparación ayuda a entender qué se controla en cada enfoque y cómo establecer criterios para revisar el trabajo.</a:t>
            </a:r>
          </a:p>
        </p:txBody>
      </p:sp>
    </p:spTree>
    <p:extLst>
      <p:ext uri="{BB962C8B-B14F-4D97-AF65-F5344CB8AC3E}">
        <p14:creationId xmlns:p14="http://schemas.microsoft.com/office/powerpoint/2010/main" val="110018174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591</Words>
  <Application>Microsoft Office PowerPoint</Application>
  <DocSecurity>0</DocSecurity>
  <PresentationFormat>Panorámica</PresentationFormat>
  <Paragraphs>129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Aptos</vt:lpstr>
      <vt:lpstr>Arial</vt:lpstr>
      <vt:lpstr>Century Gothic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Belen</cp:lastModifiedBy>
  <cp:revision>1</cp:revision>
  <dcterms:created xsi:type="dcterms:W3CDTF">2026-10-04T03:16:02Z</dcterms:created>
  <dcterms:modified xsi:type="dcterms:W3CDTF">2026-10-04T09:24:03Z</dcterms:modified>
</cp:coreProperties>
</file>