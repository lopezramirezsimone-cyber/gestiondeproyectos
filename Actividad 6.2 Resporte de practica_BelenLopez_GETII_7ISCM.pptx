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C858264A-B2BE-4D94-B304-86E841C5B791}"/>
              </a:ext>
            </a:extLst>
          </p:cNvPr>
          <p:cNvSpPr>
            <a:spLocks noGrp="1"/>
          </p:cNvSpPr>
          <p:nvPr/>
        </p:nvSpPr>
        <p:spPr>
          <a:xfrm>
            <a:off x="5791200" y="22098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41475EC-3E04-4D9A-8089-C263B0226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FF7853EA-C6DF-4614-9ECD-DBCBC578A5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ccent rule">
            <a:extLst>
              <a:ext uri="{FF2B5EF4-FFF2-40B4-BE49-F238E27FC236}">
                <a16:creationId xmlns:a16="http://schemas.microsoft.com/office/drawing/2014/main" id="{15F3C5A8-40C8-4EB9-B2A3-B982BA37AEDD}"/>
              </a:ext>
            </a:extLst>
          </p:cNvPr>
          <p:cNvSpPr>
            <a:spLocks noGrp="1"/>
          </p:cNvSpPr>
          <p:nvPr/>
        </p:nvSpPr>
        <p:spPr>
          <a:xfrm>
            <a:off x="5791200" y="24765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Section title">
            <a:extLst>
              <a:ext uri="{FF2B5EF4-FFF2-40B4-BE49-F238E27FC236}">
                <a16:creationId xmlns:a16="http://schemas.microsoft.com/office/drawing/2014/main" id="{A466F951-303E-48A9-BD83-6EDD37E67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34675065-E0F6-4580-A870-E0232556E978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C4FC531-DE75-4FB9-9144-028F58BC4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Body">
            <a:extLst>
              <a:ext uri="{FF2B5EF4-FFF2-40B4-BE49-F238E27FC236}">
                <a16:creationId xmlns:a16="http://schemas.microsoft.com/office/drawing/2014/main" id="{A9BF830C-D1E8-4E36-88BF-7F2BE6C869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ccent rule">
            <a:extLst>
              <a:ext uri="{FF2B5EF4-FFF2-40B4-BE49-F238E27FC236}">
                <a16:creationId xmlns:a16="http://schemas.microsoft.com/office/drawing/2014/main" id="{2AA73103-286F-42C1-BDB4-F89B2177E244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8F68F7E-773F-4ABD-BE04-B1888099C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Left column">
            <a:extLst>
              <a:ext uri="{FF2B5EF4-FFF2-40B4-BE49-F238E27FC236}">
                <a16:creationId xmlns:a16="http://schemas.microsoft.com/office/drawing/2014/main" id="{DAB27245-FE81-48A7-9A98-4868EBDA57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4" name="Right column">
            <a:extLst>
              <a:ext uri="{FF2B5EF4-FFF2-40B4-BE49-F238E27FC236}">
                <a16:creationId xmlns:a16="http://schemas.microsoft.com/office/drawing/2014/main" id="{551233CD-E840-42E2-8D62-C405AE9560D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BB55253E-8128-4328-A5F7-0DE3C4F72EAE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72F2D54-9348-4A5B-92A2-375F27FE1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Left column">
            <a:extLst>
              <a:ext uri="{FF2B5EF4-FFF2-40B4-BE49-F238E27FC236}">
                <a16:creationId xmlns:a16="http://schemas.microsoft.com/office/drawing/2014/main" id="{F33AF2C3-8E3C-41E8-94E3-B98B1709F5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98882" y="190500"/>
            <a:ext cx="2136110" cy="1047750"/>
          </a:xfrm>
          <a:prstGeom prst="rect">
            <a:avLst/>
          </a:prstGeom>
        </p:spPr>
      </p:pic>
      <p:pic>
        <p:nvPicPr>
          <p:cNvPr id="15" name="Imagen 1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572000" y="212651"/>
            <a:ext cx="3190875" cy="660548"/>
          </a:xfrm>
          <a:prstGeom prst="rect">
            <a:avLst/>
          </a:prstGeom>
        </p:spPr>
      </p:pic>
      <p:pic>
        <p:nvPicPr>
          <p:cNvPr id="16" name="Imagen 15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0292953" y="361950"/>
            <a:ext cx="1369219" cy="95250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50DBBA75-4C13-464D-AC1B-9AAB93791AD1}"/>
              </a:ext>
            </a:extLst>
          </p:cNvPr>
          <p:cNvSpPr>
            <a:spLocks noGrp="1"/>
          </p:cNvSpPr>
          <p:nvPr/>
        </p:nvSpPr>
        <p:spPr>
          <a:xfrm>
            <a:off x="2381250" y="914400"/>
            <a:ext cx="7429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725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Instituto Tecnológico de Frontera Comalapa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845C6E4-0B9A-4FBE-85AB-CC35630F1D25}"/>
              </a:ext>
            </a:extLst>
          </p:cNvPr>
          <p:cNvSpPr>
            <a:spLocks noGrp="1"/>
          </p:cNvSpPr>
          <p:nvPr/>
        </p:nvSpPr>
        <p:spPr>
          <a:xfrm>
            <a:off x="2381250" y="1371600"/>
            <a:ext cx="7429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725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Modalidad Mixta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6683FEE-21FF-41F5-BF54-CDD0312BC22E}"/>
              </a:ext>
            </a:extLst>
          </p:cNvPr>
          <p:cNvSpPr>
            <a:spLocks noGrp="1"/>
          </p:cNvSpPr>
          <p:nvPr/>
        </p:nvSpPr>
        <p:spPr>
          <a:xfrm>
            <a:off x="2381250" y="1800225"/>
            <a:ext cx="74295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Materia:</a:t>
            </a:r>
          </a:p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Gestión de proyectos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09E8CB5-D850-4FC0-924A-D4416269F7D3}"/>
              </a:ext>
            </a:extLst>
          </p:cNvPr>
          <p:cNvSpPr>
            <a:spLocks noGrp="1"/>
          </p:cNvSpPr>
          <p:nvPr/>
        </p:nvSpPr>
        <p:spPr>
          <a:xfrm>
            <a:off x="2381250" y="2314575"/>
            <a:ext cx="74295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Semestre:</a:t>
            </a:r>
          </a:p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Séptimo semestre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76BB25CC-B5DF-4797-BD2C-4D824F155E7B}"/>
              </a:ext>
            </a:extLst>
          </p:cNvPr>
          <p:cNvSpPr>
            <a:spLocks noGrp="1"/>
          </p:cNvSpPr>
          <p:nvPr/>
        </p:nvSpPr>
        <p:spPr>
          <a:xfrm>
            <a:off x="2381250" y="3038475"/>
            <a:ext cx="74295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Especialidad:</a:t>
            </a:r>
          </a:p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Ingeniería en Sistemas Computacionales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4BC47FD0-6FA7-4E3D-95AC-6E4466FA8158}"/>
              </a:ext>
            </a:extLst>
          </p:cNvPr>
          <p:cNvSpPr>
            <a:spLocks noGrp="1"/>
          </p:cNvSpPr>
          <p:nvPr/>
        </p:nvSpPr>
        <p:spPr>
          <a:xfrm>
            <a:off x="2381250" y="3800475"/>
            <a:ext cx="7429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Nombre del alumno: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222DAB0F-9887-4EDD-AE5E-0E838A839AB4}"/>
              </a:ext>
            </a:extLst>
          </p:cNvPr>
          <p:cNvSpPr>
            <a:spLocks noGrp="1"/>
          </p:cNvSpPr>
          <p:nvPr/>
        </p:nvSpPr>
        <p:spPr>
          <a:xfrm>
            <a:off x="2381250" y="4076700"/>
            <a:ext cx="7429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725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Simone Belén López Ramírez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51A46546-3D77-48D0-9A1A-6887445E1900}"/>
              </a:ext>
            </a:extLst>
          </p:cNvPr>
          <p:cNvSpPr>
            <a:spLocks noGrp="1"/>
          </p:cNvSpPr>
          <p:nvPr/>
        </p:nvSpPr>
        <p:spPr>
          <a:xfrm>
            <a:off x="2381250" y="4562475"/>
            <a:ext cx="74295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Nombre del docente:</a:t>
            </a:r>
          </a:p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Ing. Francisco Javier Mingo Velazquez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B4D8277-0D79-433A-BB5F-3C25DB3AEDEE}"/>
              </a:ext>
            </a:extLst>
          </p:cNvPr>
          <p:cNvSpPr>
            <a:spLocks noGrp="1"/>
          </p:cNvSpPr>
          <p:nvPr/>
        </p:nvSpPr>
        <p:spPr>
          <a:xfrm>
            <a:off x="2381250" y="5334000"/>
            <a:ext cx="74295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Nombre del trabajo:</a:t>
            </a:r>
          </a:p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Actividad 6.2 · Reporte de práctica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C59AF5B5-748A-4C92-8191-6F67A069F7DF}"/>
              </a:ext>
            </a:extLst>
          </p:cNvPr>
          <p:cNvSpPr>
            <a:spLocks noGrp="1"/>
          </p:cNvSpPr>
          <p:nvPr/>
        </p:nvSpPr>
        <p:spPr>
          <a:xfrm>
            <a:off x="2381250" y="6115050"/>
            <a:ext cx="7429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650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650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Frontera Comalapa, Chiapas. 03 de octubre de 2026.</a:t>
            </a:r>
          </a:p>
        </p:txBody>
      </p:sp>
    </p:spTree>
    <p:extLst>
      <p:ext uri="{BB962C8B-B14F-4D97-AF65-F5344CB8AC3E}">
        <p14:creationId xmlns:p14="http://schemas.microsoft.com/office/powerpoint/2010/main" val="1710134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4C7A08AD-77D4-4B34-9F41-BB081A00D2D6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Introducción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7EA0ACC-04AC-40B3-8E37-3373A0E2173D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350E6C3-D5A1-429C-871A-CC57DF456A01}"/>
              </a:ext>
            </a:extLst>
          </p:cNvPr>
          <p:cNvSpPr>
            <a:spLocks noGrp="1"/>
          </p:cNvSpPr>
          <p:nvPr/>
        </p:nvSpPr>
        <p:spPr>
          <a:xfrm>
            <a:off x="857250" y="2143125"/>
            <a:ext cx="10382250" cy="342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Evaluar un proyecto consiste en revisar si lo que se planeó responde a la necesidad del usuario. En ReservaLab, TurnoCampus y MaterialControl se establecen criterios de alcance, tiempo, costo, calidad y utilidad. Esta práctica organiza las comprobaciones necesarias para valorar cada propuesta antes de considerar su cierre.</a:t>
            </a:r>
          </a:p>
        </p:txBody>
      </p:sp>
    </p:spTree>
    <p:extLst>
      <p:ext uri="{BB962C8B-B14F-4D97-AF65-F5344CB8AC3E}">
        <p14:creationId xmlns:p14="http://schemas.microsoft.com/office/powerpoint/2010/main" val="705439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3836FCED-491D-4076-BC54-94AD1C13CF2B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Justificación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5DDDBE7-BA9B-4799-9D78-1F4C166566DE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D16549E-93A1-4711-99B6-7CDA6328DA86}"/>
              </a:ext>
            </a:extLst>
          </p:cNvPr>
          <p:cNvSpPr>
            <a:spLocks noGrp="1"/>
          </p:cNvSpPr>
          <p:nvPr/>
        </p:nvSpPr>
        <p:spPr>
          <a:xfrm>
            <a:off x="857250" y="2143125"/>
            <a:ext cx="10382250" cy="342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Una lista de funciones no basta para saber si un sistema cumple su propósito. También hace falta comprobar sus reglas, registrar el trabajo realizado y obtener la opinión de quienes lo usarán. La evaluación permite detectar pendientes y decidir qué evidencia debe reunirse para aceptar la entrega.</a:t>
            </a:r>
          </a:p>
        </p:txBody>
      </p:sp>
    </p:spTree>
    <p:extLst>
      <p:ext uri="{BB962C8B-B14F-4D97-AF65-F5344CB8AC3E}">
        <p14:creationId xmlns:p14="http://schemas.microsoft.com/office/powerpoint/2010/main" val="18412356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C23773A3-98E2-4E80-9FAD-5896AEBB5F05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1. Criterios para evaluar los proyectos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67B0A89-4DEC-4985-92AD-ECE777EB02F8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graphicFrame>
        <p:nvGraphicFramePr>
          <p:cNvPr id="6" name="Tabla 5"/>
          <p:cNvGraphicFramePr/>
          <p:nvPr/>
        </p:nvGraphicFramePr>
        <p:xfrm>
          <a:off x="666750" y="1857375"/>
          <a:ext cx="10858500" cy="4000500"/>
        </p:xfrm>
        <a:graphic>
          <a:graphicData uri="http://schemas.openxmlformats.org/drawingml/2006/table">
            <a:tbl>
              <a:tblPr/>
              <a:tblGrid>
                <a:gridCol w="219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6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Criterio</a:t>
                      </a:r>
                    </a:p>
                  </a:txBody>
                  <a:tcPr>
                    <a:solidFill>
                      <a:srgbClr val="E3EB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Pregunta de revisión</a:t>
                      </a:r>
                    </a:p>
                  </a:txBody>
                  <a:tcPr>
                    <a:solidFill>
                      <a:srgbClr val="E3EB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Evidencia necesaria</a:t>
                      </a:r>
                    </a:p>
                  </a:txBody>
                  <a:tcPr>
                    <a:solidFill>
                      <a:srgbClr val="E3EB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Alcance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¿Se entregaron las funciones acordadas?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Lista de requisitos y entregables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Tiempo y costo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¿Qué cambió respecto al plan?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Fechas reales y registro de gastos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Calidad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¿Se cumplen las reglas del sistema?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Resultados de pruebas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Satisfacción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¿El usuario entiende y acepta el uso?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Encuesta y acta de aceptación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Beneficio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¿Se atiende la necesidad inicial?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Comparación del proceso anterior y propuesto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5360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9501055C-C74D-4850-ABC6-C839D75F7445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2. Evaluación de ReservaLab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73F2951-AEB8-4A4B-808F-57950E6D2DAD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graphicFrame>
        <p:nvGraphicFramePr>
          <p:cNvPr id="6" name="Tabla 5"/>
          <p:cNvGraphicFramePr/>
          <p:nvPr/>
        </p:nvGraphicFramePr>
        <p:xfrm>
          <a:off x="666750" y="1857375"/>
          <a:ext cx="10858500" cy="4000500"/>
        </p:xfrm>
        <a:graphic>
          <a:graphicData uri="http://schemas.openxmlformats.org/drawingml/2006/table">
            <a:tbl>
              <a:tblPr/>
              <a:tblGrid>
                <a:gridCol w="266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9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Aspecto</a:t>
                      </a:r>
                    </a:p>
                  </a:txBody>
                  <a:tcPr>
                    <a:solidFill>
                      <a:srgbClr val="E3EB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Comprobación del caso</a:t>
                      </a:r>
                    </a:p>
                  </a:txBody>
                  <a:tcPr>
                    <a:solidFill>
                      <a:srgbClr val="E3EB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Alcance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Calendario, solicitud, aprobación, historial y repetición semanal.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Prueba clave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Solicitar dos reservas aprobadas para el mismo laboratorio y horario: impedir la coincidencia.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Cambio incorporado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Revisar cada fecha de una reserva recurrente; estimación adicional: 7 días.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Usuario evaluador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Docente solicitante y coordinador del laboratorio.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Pendiente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Registrar las pruebas y la aceptación; comparar fechas y costos reales.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99041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E3F3ECEA-C1AA-4D2A-98DE-FD86DDF54781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3. Evaluación de TurnoCampus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6C290D9-2CA1-4251-819F-58868648487C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graphicFrame>
        <p:nvGraphicFramePr>
          <p:cNvPr id="6" name="Tabla 5"/>
          <p:cNvGraphicFramePr/>
          <p:nvPr/>
        </p:nvGraphicFramePr>
        <p:xfrm>
          <a:off x="666750" y="1857375"/>
          <a:ext cx="10858500" cy="4000500"/>
        </p:xfrm>
        <a:graphic>
          <a:graphicData uri="http://schemas.openxmlformats.org/drawingml/2006/table">
            <a:tbl>
              <a:tblPr/>
              <a:tblGrid>
                <a:gridCol w="266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9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Aspecto</a:t>
                      </a:r>
                    </a:p>
                  </a:txBody>
                  <a:tcPr>
                    <a:solidFill>
                      <a:srgbClr val="E3EB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Comprobación del caso</a:t>
                      </a:r>
                    </a:p>
                  </a:txBody>
                  <a:tcPr>
                    <a:solidFill>
                      <a:srgbClr val="E3EB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Alcance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Consultar horarios, reservar, cancelar, marcar atención y mostrar recordatorio.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Prueba clave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Reservar el último lugar disponible y comprobar que no se exceda el cupo.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Cambio incorporado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Retirar el recordatorio al cancelar la cita; estimación adicional: 5 días.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Usuario evaluador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Estudiante y personal de servicios escolares.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Pendiente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Comprobar el recorrido completo y documentar la opinión del usuario.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5511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D459D20F-44EF-4397-ACFB-CA49F5E39F7F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4. Evaluación de MaterialControl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6072FEC-9767-4E51-A112-1AE51034A79C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graphicFrame>
        <p:nvGraphicFramePr>
          <p:cNvPr id="6" name="Tabla 5"/>
          <p:cNvGraphicFramePr/>
          <p:nvPr/>
        </p:nvGraphicFramePr>
        <p:xfrm>
          <a:off x="666750" y="1857375"/>
          <a:ext cx="10858500" cy="4000500"/>
        </p:xfrm>
        <a:graphic>
          <a:graphicData uri="http://schemas.openxmlformats.org/drawingml/2006/table">
            <a:tbl>
              <a:tblPr/>
              <a:tblGrid>
                <a:gridCol w="266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9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Aspecto</a:t>
                      </a:r>
                    </a:p>
                  </a:txBody>
                  <a:tcPr>
                    <a:solidFill>
                      <a:srgbClr val="E3EB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Comprobación del caso</a:t>
                      </a:r>
                    </a:p>
                  </a:txBody>
                  <a:tcPr>
                    <a:solidFill>
                      <a:srgbClr val="E3EB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Alcance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Entradas, préstamos, devoluciones, responsables, historial y aviso de mínimo.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Prueba clave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Intentar prestar más unidades de las disponibles: rechazar la operación.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Cambio incorporado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Actualizar el aviso tras cada movimiento; estimación adicional: 6 días.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Usuario evaluador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Encargado del almacén y persona que solicita material.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Pendiente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Verificar cantidades, devolución y registro de movimientos con datos de prueba.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6607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AFA03E10-F2C0-4F0E-8C33-F636D841783F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5. Lecciones del trabajo de planeación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D1FFA4E-642F-4A91-9EFD-CE2072B7B2DD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graphicFrame>
        <p:nvGraphicFramePr>
          <p:cNvPr id="6" name="Tabla 5"/>
          <p:cNvGraphicFramePr/>
          <p:nvPr/>
        </p:nvGraphicFramePr>
        <p:xfrm>
          <a:off x="666750" y="1857375"/>
          <a:ext cx="10858500" cy="4000500"/>
        </p:xfrm>
        <a:graphic>
          <a:graphicData uri="http://schemas.openxmlformats.org/drawingml/2006/table">
            <a:tbl>
              <a:tblPr/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5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05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001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Situación</a:t>
                      </a:r>
                    </a:p>
                  </a:txBody>
                  <a:tcPr>
                    <a:solidFill>
                      <a:srgbClr val="E3EB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Aprendizaje</a:t>
                      </a:r>
                    </a:p>
                  </a:txBody>
                  <a:tcPr>
                    <a:solidFill>
                      <a:srgbClr val="E3EB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Aplicación siguiente</a:t>
                      </a:r>
                    </a:p>
                  </a:txBody>
                  <a:tcPr>
                    <a:solidFill>
                      <a:srgbClr val="E3EB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Reservas repetidas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Una solicitud puede contener varias fechas con conflictos distintos.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Validar todas las fechas antes de confirmar.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Citas canceladas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Un aviso depende del estado vigente de la cita.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Revisar cancelación y recordatorio juntos.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Movimientos de almacén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El aviso debe usar la existencia actual.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Probar entradas, préstamos y devoluciones.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Cambios de alcance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Toda función nueva afecta actividades y estimaciones.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Actualizar el plan y conservar el motivo del cambio.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53706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F6C5287D-7551-4A45-92BA-247119F42CE8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6. Comparación de la preparación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6C3AB8E-B4FE-4A0B-80EA-4271448FFBC6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graphicFrame>
        <p:nvGraphicFramePr>
          <p:cNvPr id="6" name="Tabla 5"/>
          <p:cNvGraphicFramePr/>
          <p:nvPr/>
        </p:nvGraphicFramePr>
        <p:xfrm>
          <a:off x="666750" y="1857375"/>
          <a:ext cx="10858500" cy="4000500"/>
        </p:xfrm>
        <a:graphic>
          <a:graphicData uri="http://schemas.openxmlformats.org/drawingml/2006/table">
            <a:tbl>
              <a:tblPr/>
              <a:tblGrid>
                <a:gridCol w="219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7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001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Proyecto</a:t>
                      </a:r>
                    </a:p>
                  </a:txBody>
                  <a:tcPr>
                    <a:solidFill>
                      <a:srgbClr val="E3EB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Criterio principal definido</a:t>
                      </a:r>
                    </a:p>
                  </a:txBody>
                  <a:tcPr>
                    <a:solidFill>
                      <a:srgbClr val="E3EB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Evidencia por reunir</a:t>
                      </a:r>
                    </a:p>
                  </a:txBody>
                  <a:tcPr>
                    <a:solidFill>
                      <a:srgbClr val="E3EB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ReservaLab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Sin coincidencias de laboratorio y horario.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Pruebas de repetición y aprobación del coordinador.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TurnoCampus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Cupos válidos y avisos de citas vigentes.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Pruebas de reserva/cancelación y revisión del usuario.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MaterialControl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Existencias no negativas e historial completo.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Pruebas de movimientos y revisión del almacén.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Los tres proyectos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Alcance y estimaciones documentados.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Fechas, costos reales y aceptación formal.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01060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AD5A7E44-4420-439B-B213-B2008275D0C0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Resultados del análisis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BF6259F-A7BD-4283-96CF-C5ADBED466D7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B6EA3EA-AE9E-40D3-8121-F75A37D65636}"/>
              </a:ext>
            </a:extLst>
          </p:cNvPr>
          <p:cNvSpPr>
            <a:spLocks noGrp="1"/>
          </p:cNvSpPr>
          <p:nvPr/>
        </p:nvSpPr>
        <p:spPr>
          <a:xfrm>
            <a:off x="857250" y="2143125"/>
            <a:ext cx="10382250" cy="342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Cada proyecto tiene una regla que permite comprobar su funcionamiento: evitar reservas coincidentes, respetar el cupo de las citas y conservar existencias válidas. También quedaron identificadas las revisiones de las nuevas funciones. La evaluación final requiere reunir resultados de pruebas, datos reales de ejecución y la aceptación de los usuarios.</a:t>
            </a:r>
          </a:p>
        </p:txBody>
      </p:sp>
    </p:spTree>
    <p:extLst>
      <p:ext uri="{BB962C8B-B14F-4D97-AF65-F5344CB8AC3E}">
        <p14:creationId xmlns:p14="http://schemas.microsoft.com/office/powerpoint/2010/main" val="9363225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CF6915D4-3D46-4C3E-9D4B-E703A8DD92C9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Conclusión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C9801B8-2CCB-45C8-A104-4B3641DB557B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2E7CA4F-4CE1-4FA6-AB88-D55352CAAAA3}"/>
              </a:ext>
            </a:extLst>
          </p:cNvPr>
          <p:cNvSpPr>
            <a:spLocks noGrp="1"/>
          </p:cNvSpPr>
          <p:nvPr/>
        </p:nvSpPr>
        <p:spPr>
          <a:xfrm>
            <a:off x="857250" y="2143125"/>
            <a:ext cx="10382250" cy="342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Esta práctica permitió convertir las necesidades de los usuarios en criterios concretos de revisión. Así se puede explicar qué debe cumplir cada sistema y qué documentos respaldan su entrega. El cierre podrá decidirse cuando los pendientes estén resueltos y exista evidencia suficiente para comparar lo planeado con lo realizado.</a:t>
            </a:r>
          </a:p>
        </p:txBody>
      </p:sp>
    </p:spTree>
    <p:extLst>
      <p:ext uri="{BB962C8B-B14F-4D97-AF65-F5344CB8AC3E}">
        <p14:creationId xmlns:p14="http://schemas.microsoft.com/office/powerpoint/2010/main" val="8115731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772</Words>
  <Application>Microsoft Office PowerPoint</Application>
  <DocSecurity>0</DocSecurity>
  <PresentationFormat>Panorámica</PresentationFormat>
  <Paragraphs>123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Aptos</vt:lpstr>
      <vt:lpstr>Arial</vt:lpstr>
      <vt:lpstr>Century Gothic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Belen</cp:lastModifiedBy>
  <cp:revision>1</cp:revision>
  <dcterms:created xsi:type="dcterms:W3CDTF">2026-10-04T04:07:05Z</dcterms:created>
  <dcterms:modified xsi:type="dcterms:W3CDTF">2026-10-04T10:11:54Z</dcterms:modified>
</cp:coreProperties>
</file>