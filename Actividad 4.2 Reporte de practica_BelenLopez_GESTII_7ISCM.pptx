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24EFABB8-109C-47C0-B53F-710F17C7EECA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49E7441-F1CB-45DE-A724-4B01DCF6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CDA26E1-83F5-4E8E-9639-EEEE1ED40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1FC570AA-4E18-4983-93AF-736379B6F623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4FBBA05-FF65-4843-8FAD-6BBF44EF5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0B0B7E8C-6C3A-4C56-A748-206ECEAD83A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33ADF14-FEEB-4446-BF2D-809D8C9C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62C2D6F9-0BE1-4F64-8087-6EB14B94A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F56E9E81-06AA-4129-9AAC-940407E795E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6D712CF-07CC-4E5B-85CE-C4DE4B30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62EE23DE-57A8-47EE-B4D3-6F078FE48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0AC6D3E7-40EB-4945-871A-29B7A76C99B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499BAC9-C2B6-414F-9EAD-878871000C5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B2FE851-44D3-4778-AC4D-44B44BD7D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B147045A-72B6-4655-8EA0-1E16A1281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8882" y="190500"/>
            <a:ext cx="2136110" cy="104775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212651"/>
            <a:ext cx="3190875" cy="660548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92953" y="361950"/>
            <a:ext cx="1369219" cy="9525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45D86A16-A000-451D-A643-C6AD8EF5E430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Instituto Tecnológico de Frontera Comalapa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21636F5-5D82-417F-AF26-9A140604223E}"/>
              </a:ext>
            </a:extLst>
          </p:cNvPr>
          <p:cNvSpPr>
            <a:spLocks noGrp="1"/>
          </p:cNvSpPr>
          <p:nvPr/>
        </p:nvSpPr>
        <p:spPr>
          <a:xfrm>
            <a:off x="2381250" y="137160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Modalidad Mixta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68D183F-8902-40D0-B11F-F4702556F8A0}"/>
              </a:ext>
            </a:extLst>
          </p:cNvPr>
          <p:cNvSpPr>
            <a:spLocks noGrp="1"/>
          </p:cNvSpPr>
          <p:nvPr/>
        </p:nvSpPr>
        <p:spPr>
          <a:xfrm>
            <a:off x="2381250" y="180022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Materia: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Gestión de proyectos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75EC9F3-612B-4E27-8B1F-852A3C5B22A0}"/>
              </a:ext>
            </a:extLst>
          </p:cNvPr>
          <p:cNvSpPr>
            <a:spLocks noGrp="1"/>
          </p:cNvSpPr>
          <p:nvPr/>
        </p:nvSpPr>
        <p:spPr>
          <a:xfrm>
            <a:off x="2381250" y="231457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Semestre: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Séptimo semestre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9BDDD1D-CB5D-46C2-9879-656C684A7EEF}"/>
              </a:ext>
            </a:extLst>
          </p:cNvPr>
          <p:cNvSpPr>
            <a:spLocks noGrp="1"/>
          </p:cNvSpPr>
          <p:nvPr/>
        </p:nvSpPr>
        <p:spPr>
          <a:xfrm>
            <a:off x="2381250" y="3038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Especialidad: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Ingeniería en Sistemas Computacionales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833D79D-E7A4-40F6-9424-79D410FD1834}"/>
              </a:ext>
            </a:extLst>
          </p:cNvPr>
          <p:cNvSpPr>
            <a:spLocks noGrp="1"/>
          </p:cNvSpPr>
          <p:nvPr/>
        </p:nvSpPr>
        <p:spPr>
          <a:xfrm>
            <a:off x="2381250" y="3800475"/>
            <a:ext cx="7429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alumno: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2EE0E12-0D1C-4C0A-BEA9-AE717BB82F3C}"/>
              </a:ext>
            </a:extLst>
          </p:cNvPr>
          <p:cNvSpPr>
            <a:spLocks noGrp="1"/>
          </p:cNvSpPr>
          <p:nvPr/>
        </p:nvSpPr>
        <p:spPr>
          <a:xfrm>
            <a:off x="2381250" y="40767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Simone Belén López Ramírez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3CB335C-440D-45E8-BDD7-CBEF25965FB3}"/>
              </a:ext>
            </a:extLst>
          </p:cNvPr>
          <p:cNvSpPr>
            <a:spLocks noGrp="1"/>
          </p:cNvSpPr>
          <p:nvPr/>
        </p:nvSpPr>
        <p:spPr>
          <a:xfrm>
            <a:off x="2381250" y="4562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docente: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Ing. Francisco Javier Mingo Velazquez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C6CC653-AC54-4C07-A19D-767F37BBCA63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trabajo: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Actividad 4.2 · Reporte de práctica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C77441C-8FC7-445F-996C-C0F37B56D830}"/>
              </a:ext>
            </a:extLst>
          </p:cNvPr>
          <p:cNvSpPr>
            <a:spLocks noGrp="1"/>
          </p:cNvSpPr>
          <p:nvPr/>
        </p:nvSpPr>
        <p:spPr>
          <a:xfrm>
            <a:off x="2381250" y="61150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Frontera Comalapa, Chiapas. 14 de septiembre de 2026.</a:t>
            </a:r>
          </a:p>
        </p:txBody>
      </p:sp>
    </p:spTree>
    <p:extLst>
      <p:ext uri="{BB962C8B-B14F-4D97-AF65-F5344CB8AC3E}">
        <p14:creationId xmlns:p14="http://schemas.microsoft.com/office/powerpoint/2010/main" val="1029442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7C4E2D7-8B5D-434F-8865-8AC50831DDCD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11B23F7-6BEC-4A77-A5CD-8BFD08762FCB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1E43D2-EBE5-4923-BF3A-4A00BF3E7ACD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Un riesgo es una situación que podría causar problemas durante el proyecto. En esta práctica se revisan tres casos: reservas que coinciden en ReservaLab, cambios de horario en TurnoCampus y errores de cantidades en MaterialControl. A partir de estos casos se organiza la valoración, las respuestas y el tiempo necesario para revisarlas.</a:t>
            </a:r>
          </a:p>
        </p:txBody>
      </p:sp>
    </p:spTree>
    <p:extLst>
      <p:ext uri="{BB962C8B-B14F-4D97-AF65-F5344CB8AC3E}">
        <p14:creationId xmlns:p14="http://schemas.microsoft.com/office/powerpoint/2010/main" val="1345115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E2BB7ED-1D0B-4139-A17D-AB48F65BD79D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Justificación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CB91CA6-A834-4CD9-A42C-FC5AF3F6A7F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BB63891-38FA-4518-B197-46E74A18FC2D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Anticipar los problemas ayuda a evitar que una falla pequeña afecte a los usuarios o retrase la entrega. Registrar cada riesgo permite explicar su consecuencia y asignar una acción concreta. Así se puede dar seguimiento a lo que necesita atención y revisar si la respuesta propuesta es suficiente.</a:t>
            </a:r>
          </a:p>
        </p:txBody>
      </p:sp>
    </p:spTree>
    <p:extLst>
      <p:ext uri="{BB962C8B-B14F-4D97-AF65-F5344CB8AC3E}">
        <p14:creationId xmlns:p14="http://schemas.microsoft.com/office/powerpoint/2010/main" val="408670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FD810D5-9B16-4F68-AA2D-C0EFCB077C0F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1: identificación de los riesgos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9D084F1-ED86-404E-A80A-09A973FCACA1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AAF504C-2752-4689-B0C8-82B59C377ABF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Situaciones detectadas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7AA716E-9769-486D-83C7-F0C15ADDD130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ReservaLab: dos reservas en el mismo horario.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TurnoCampus: modificación de una cita confirmada.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MaterialControl: devolución con cantidad incorrecta.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8A41FC3-4277-46E2-997A-CD8D481E07D1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Información que se registra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EFD9D5D-7052-4754-8E3D-15E021ADD2B7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Qué puede ocurrir.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Cómo afectaría al usuario.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Qué acción reduciría el problema.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Quién revisaría la respuesta.</a:t>
            </a:r>
          </a:p>
        </p:txBody>
      </p:sp>
    </p:spTree>
    <p:extLst>
      <p:ext uri="{BB962C8B-B14F-4D97-AF65-F5344CB8AC3E}">
        <p14:creationId xmlns:p14="http://schemas.microsoft.com/office/powerpoint/2010/main" val="1863242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F20CA40-9FAD-472B-9C67-613C8DBF3821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Prioridad de los riesgos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D7CE7A1-C1E9-410E-B27B-DD986CB5B99E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163CBEE-6BE2-4318-B63F-7F664965B634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2667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Proyecto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C07332-DB62-42A9-B72E-AE5C4D0E8634}"/>
              </a:ext>
            </a:extLst>
          </p:cNvPr>
          <p:cNvSpPr>
            <a:spLocks noGrp="1"/>
          </p:cNvSpPr>
          <p:nvPr/>
        </p:nvSpPr>
        <p:spPr>
          <a:xfrm>
            <a:off x="3476625" y="2190750"/>
            <a:ext cx="3619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Riesgo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3C7B398-3CF3-42E9-8F00-54920A994BA0}"/>
              </a:ext>
            </a:extLst>
          </p:cNvPr>
          <p:cNvSpPr>
            <a:spLocks noGrp="1"/>
          </p:cNvSpPr>
          <p:nvPr/>
        </p:nvSpPr>
        <p:spPr>
          <a:xfrm>
            <a:off x="7239000" y="2190750"/>
            <a:ext cx="13811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Probabilidad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59280F3-6373-477D-BB5E-C9B7CB6DC8A9}"/>
              </a:ext>
            </a:extLst>
          </p:cNvPr>
          <p:cNvSpPr>
            <a:spLocks noGrp="1"/>
          </p:cNvSpPr>
          <p:nvPr/>
        </p:nvSpPr>
        <p:spPr>
          <a:xfrm>
            <a:off x="8667750" y="2190750"/>
            <a:ext cx="1238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Impacto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18B49A5-2405-4FC5-B4AD-3E821E17052A}"/>
              </a:ext>
            </a:extLst>
          </p:cNvPr>
          <p:cNvSpPr>
            <a:spLocks noGrp="1"/>
          </p:cNvSpPr>
          <p:nvPr/>
        </p:nvSpPr>
        <p:spPr>
          <a:xfrm>
            <a:off x="10001250" y="2190750"/>
            <a:ext cx="12858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 × I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B7132AE-C524-4CB3-8289-D01797142284}"/>
              </a:ext>
            </a:extLst>
          </p:cNvPr>
          <p:cNvSpPr>
            <a:spLocks noGrp="1"/>
          </p:cNvSpPr>
          <p:nvPr/>
        </p:nvSpPr>
        <p:spPr>
          <a:xfrm>
            <a:off x="714375" y="3143250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ReservaLab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E701493-EEAB-419E-A621-A0C2731C4EC4}"/>
              </a:ext>
            </a:extLst>
          </p:cNvPr>
          <p:cNvSpPr>
            <a:spLocks noGrp="1"/>
          </p:cNvSpPr>
          <p:nvPr/>
        </p:nvSpPr>
        <p:spPr>
          <a:xfrm>
            <a:off x="3476625" y="3143250"/>
            <a:ext cx="3619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Reservas duplicadas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8A1E265-05F7-4948-9B2B-B7E7EE523301}"/>
              </a:ext>
            </a:extLst>
          </p:cNvPr>
          <p:cNvSpPr>
            <a:spLocks noGrp="1"/>
          </p:cNvSpPr>
          <p:nvPr/>
        </p:nvSpPr>
        <p:spPr>
          <a:xfrm>
            <a:off x="7239000" y="3143250"/>
            <a:ext cx="13811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5A02EB9-2486-4172-B510-6F7CDE575EAB}"/>
              </a:ext>
            </a:extLst>
          </p:cNvPr>
          <p:cNvSpPr>
            <a:spLocks noGrp="1"/>
          </p:cNvSpPr>
          <p:nvPr/>
        </p:nvSpPr>
        <p:spPr>
          <a:xfrm>
            <a:off x="8667750" y="3143250"/>
            <a:ext cx="1238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5DD5BFE-DEC3-4384-BB6F-A01845FEE79B}"/>
              </a:ext>
            </a:extLst>
          </p:cNvPr>
          <p:cNvSpPr>
            <a:spLocks noGrp="1"/>
          </p:cNvSpPr>
          <p:nvPr/>
        </p:nvSpPr>
        <p:spPr>
          <a:xfrm>
            <a:off x="10001250" y="3143250"/>
            <a:ext cx="12858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52C51B7-4449-4D2F-8890-2B2552EDAE4F}"/>
              </a:ext>
            </a:extLst>
          </p:cNvPr>
          <p:cNvSpPr>
            <a:spLocks noGrp="1"/>
          </p:cNvSpPr>
          <p:nvPr/>
        </p:nvSpPr>
        <p:spPr>
          <a:xfrm>
            <a:off x="714375" y="3810000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TurnoCampus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2FF8980-8D30-419C-A0A5-629136EA0611}"/>
              </a:ext>
            </a:extLst>
          </p:cNvPr>
          <p:cNvSpPr>
            <a:spLocks noGrp="1"/>
          </p:cNvSpPr>
          <p:nvPr/>
        </p:nvSpPr>
        <p:spPr>
          <a:xfrm>
            <a:off x="3476625" y="3810000"/>
            <a:ext cx="3619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Cambio de horario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3054EE7-D786-416A-A8A2-15E89669D7FA}"/>
              </a:ext>
            </a:extLst>
          </p:cNvPr>
          <p:cNvSpPr>
            <a:spLocks noGrp="1"/>
          </p:cNvSpPr>
          <p:nvPr/>
        </p:nvSpPr>
        <p:spPr>
          <a:xfrm>
            <a:off x="7239000" y="3810000"/>
            <a:ext cx="13811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C5F3F20-02AF-4C81-B1D0-CB4D13D72018}"/>
              </a:ext>
            </a:extLst>
          </p:cNvPr>
          <p:cNvSpPr>
            <a:spLocks noGrp="1"/>
          </p:cNvSpPr>
          <p:nvPr/>
        </p:nvSpPr>
        <p:spPr>
          <a:xfrm>
            <a:off x="8667750" y="3810000"/>
            <a:ext cx="1238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5DBFFC9-56B2-411C-A0EB-FD308025815D}"/>
              </a:ext>
            </a:extLst>
          </p:cNvPr>
          <p:cNvSpPr>
            <a:spLocks noGrp="1"/>
          </p:cNvSpPr>
          <p:nvPr/>
        </p:nvSpPr>
        <p:spPr>
          <a:xfrm>
            <a:off x="10001250" y="3810000"/>
            <a:ext cx="12858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176786E-2BC9-4518-866A-E862B917D986}"/>
              </a:ext>
            </a:extLst>
          </p:cNvPr>
          <p:cNvSpPr>
            <a:spLocks noGrp="1"/>
          </p:cNvSpPr>
          <p:nvPr/>
        </p:nvSpPr>
        <p:spPr>
          <a:xfrm>
            <a:off x="714375" y="4476750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MaterialControl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4E2B99F-13D5-4AD3-BF2B-9FACFB1B5605}"/>
              </a:ext>
            </a:extLst>
          </p:cNvPr>
          <p:cNvSpPr>
            <a:spLocks noGrp="1"/>
          </p:cNvSpPr>
          <p:nvPr/>
        </p:nvSpPr>
        <p:spPr>
          <a:xfrm>
            <a:off x="3476625" y="4476750"/>
            <a:ext cx="3619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Cantidad incorrecta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658E064-964A-4C8E-A6C4-AF652848A074}"/>
              </a:ext>
            </a:extLst>
          </p:cNvPr>
          <p:cNvSpPr>
            <a:spLocks noGrp="1"/>
          </p:cNvSpPr>
          <p:nvPr/>
        </p:nvSpPr>
        <p:spPr>
          <a:xfrm>
            <a:off x="7239000" y="4476750"/>
            <a:ext cx="13811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B4100FE-D8F8-4763-8F32-3A527D29F4EC}"/>
              </a:ext>
            </a:extLst>
          </p:cNvPr>
          <p:cNvSpPr>
            <a:spLocks noGrp="1"/>
          </p:cNvSpPr>
          <p:nvPr/>
        </p:nvSpPr>
        <p:spPr>
          <a:xfrm>
            <a:off x="8667750" y="4476750"/>
            <a:ext cx="1238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3BCA812-0CE8-44D3-850A-7F6082A3A7F3}"/>
              </a:ext>
            </a:extLst>
          </p:cNvPr>
          <p:cNvSpPr>
            <a:spLocks noGrp="1"/>
          </p:cNvSpPr>
          <p:nvPr/>
        </p:nvSpPr>
        <p:spPr>
          <a:xfrm>
            <a:off x="10001250" y="4476750"/>
            <a:ext cx="12858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66C2C70-35F2-45A7-AC9B-0929F324149D}"/>
              </a:ext>
            </a:extLst>
          </p:cNvPr>
          <p:cNvSpPr>
            <a:spLocks noGrp="1"/>
          </p:cNvSpPr>
          <p:nvPr/>
        </p:nvSpPr>
        <p:spPr>
          <a:xfrm>
            <a:off x="714375" y="5810250"/>
            <a:ext cx="1057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Escala del ejercicio: 1 baja, 2 media, 3 alta. Los puntajes 6 y 9 tienen prioridad alta.</a:t>
            </a:r>
          </a:p>
        </p:txBody>
      </p:sp>
    </p:spTree>
    <p:extLst>
      <p:ext uri="{BB962C8B-B14F-4D97-AF65-F5344CB8AC3E}">
        <p14:creationId xmlns:p14="http://schemas.microsoft.com/office/powerpoint/2010/main" val="565194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5625CC0-A230-434C-B95B-994CDFA6FCD7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Paso 2: estimación de consecuencias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E2A9DA9-AB04-4B1B-B196-408E2F22C334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8BAEB8B-A7BD-494E-921B-DF2AA67928DE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Análisis cualitativo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E1DA0D9-FDDE-4F92-82F2-485EB7956969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Se utiliza una escala de 1 a 3 para comparar probabilidad e impacto.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 prioridad se obtiene al multiplicar ambas valoraciones.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D35205C-91F1-48D0-B14B-0098DCA1C408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Ejemplo cuantitativo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334A191-9CAA-43F6-BB7C-7538F1F441F3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Supuesto: corregir un error cuesta $1,500 y su probabilidad es 20 %.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Costo esperado = 0.20 × $1,500</a:t>
            </a: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Resultado: $300.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Este cálculo sirve para comparar el riesgo con otras estimaciones.</a:t>
            </a:r>
          </a:p>
        </p:txBody>
      </p:sp>
    </p:spTree>
    <p:extLst>
      <p:ext uri="{BB962C8B-B14F-4D97-AF65-F5344CB8AC3E}">
        <p14:creationId xmlns:p14="http://schemas.microsoft.com/office/powerpoint/2010/main" val="1927648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6A01B7-CB77-4991-B6DB-DFC58FDE0D0B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Respuesta para ReservaLab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30BC9F4-0F98-4530-934F-425D7D6670F0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69B5293-62B2-41DF-B920-DD749C352E6F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Riesgo y consecuencia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D013183-998C-49BC-A20E-439784427BCA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Dos reservas aprobadas para un mismo horario.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El docente no dispone del laboratorio cuando lo necesita.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A9DE6BA-D1CB-40F9-9AF7-151242FAEFB5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Acción y responsable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A8E64AD-DB0E-4C8A-ADB9-3E06BDB0419A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Comprobar disponibilidad al confirmar y bloquear el horario ocupado.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Responsable de revisión: Responsable de desarrollo.</a:t>
            </a:r>
          </a:p>
        </p:txBody>
      </p:sp>
    </p:spTree>
    <p:extLst>
      <p:ext uri="{BB962C8B-B14F-4D97-AF65-F5344CB8AC3E}">
        <p14:creationId xmlns:p14="http://schemas.microsoft.com/office/powerpoint/2010/main" val="1854620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FBB854D-A1F9-4222-BE0A-E67BAA60EAF0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Respuesta para TurnoCampus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4D3C4CF-BDFE-473B-A675-9B3C86B3C72E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9D99BFE-11EB-4F43-838F-0A1308C3320E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Riesgo y consecuencia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35CD6D8-A7DE-4231-AE2D-B3CA9EDA499E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Cambio de horario después de confirmar una cita.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El estudiante llega y el personal no puede atenderlo.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05F3D4B-E416-488B-B7A9-836D8A459A68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Acción y responsable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84797E7-CF37-4751-B313-F92E67749973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Confirmar el horario con el área y avisar al estudiante cuando cambie.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Responsable de revisión: Coordinación de servicios.</a:t>
            </a:r>
          </a:p>
        </p:txBody>
      </p:sp>
    </p:spTree>
    <p:extLst>
      <p:ext uri="{BB962C8B-B14F-4D97-AF65-F5344CB8AC3E}">
        <p14:creationId xmlns:p14="http://schemas.microsoft.com/office/powerpoint/2010/main" val="1049035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3412930-C056-4673-954D-85C3408258E6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Respuesta para MaterialControl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42B7647-86CE-4DE2-854E-AFD2C6471895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9AC9771-B88B-44DF-ACC9-A26CAFA1F09F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47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Riesgo y consecuencia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D71C633-9579-454A-B9D8-6B539FFB0188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447675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Una devolución se registra con una cantidad incorrecta.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El inventario muestra materiales que no están disponibles.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93947A9-7B26-4E3B-9BF4-9F6A9EB68681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Acción y responsable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E440EDB-C195-408F-B1C1-370150A872E0}"/>
              </a:ext>
            </a:extLst>
          </p:cNvPr>
          <p:cNvSpPr>
            <a:spLocks noGrp="1"/>
          </p:cNvSpPr>
          <p:nvPr/>
        </p:nvSpPr>
        <p:spPr>
          <a:xfrm>
            <a:off x="6191250" y="2714625"/>
            <a:ext cx="5143500" cy="3095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Comparar la cantidad entregada y devuelta antes de cerrar el préstamo.</a:t>
            </a:r>
          </a:p>
          <a:p>
            <a:endParaRPr sz="1875" b="0">
              <a:solidFill>
                <a:srgbClr val="222D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Responsable de revisión: Encargado del almacén.</a:t>
            </a:r>
          </a:p>
        </p:txBody>
      </p:sp>
    </p:spTree>
    <p:extLst>
      <p:ext uri="{BB962C8B-B14F-4D97-AF65-F5344CB8AC3E}">
        <p14:creationId xmlns:p14="http://schemas.microsoft.com/office/powerpoint/2010/main" val="1239871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E604FEE2-E565-4ECF-AC1F-0AC2F5C2D4E6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RESERVALAB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D1A2B4-0A1C-4B63-AE8B-A351096166A5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Cronograma de gestión de riesgos: ReservaLab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D6D44F1-1B5C-44D0-B2CD-DB86EE768675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EF30792-4708-4CB3-9B20-FD8265CE56AF}"/>
              </a:ext>
            </a:extLst>
          </p:cNvPr>
          <p:cNvSpPr>
            <a:spLocks noGrp="1"/>
          </p:cNvSpPr>
          <p:nvPr/>
        </p:nvSpPr>
        <p:spPr>
          <a:xfrm>
            <a:off x="714375" y="1981200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472FE64-3650-4AB3-A7F0-0B7C93F6860F}"/>
              </a:ext>
            </a:extLst>
          </p:cNvPr>
          <p:cNvSpPr>
            <a:spLocks noGrp="1"/>
          </p:cNvSpPr>
          <p:nvPr/>
        </p:nvSpPr>
        <p:spPr>
          <a:xfrm>
            <a:off x="5191125" y="1981200"/>
            <a:ext cx="6048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Días laborables del ejercicio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C9AFD36-83F1-41B5-85A4-5F4EBE2EB49E}"/>
              </a:ext>
            </a:extLst>
          </p:cNvPr>
          <p:cNvSpPr>
            <a:spLocks noGrp="1"/>
          </p:cNvSpPr>
          <p:nvPr/>
        </p:nvSpPr>
        <p:spPr>
          <a:xfrm>
            <a:off x="51911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1351099-438B-4862-938A-655172330E06}"/>
              </a:ext>
            </a:extLst>
          </p:cNvPr>
          <p:cNvSpPr>
            <a:spLocks noGrp="1"/>
          </p:cNvSpPr>
          <p:nvPr/>
        </p:nvSpPr>
        <p:spPr>
          <a:xfrm>
            <a:off x="56673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BF71FAB-11EA-41E8-AFDC-744960D4DB19}"/>
              </a:ext>
            </a:extLst>
          </p:cNvPr>
          <p:cNvSpPr>
            <a:spLocks noGrp="1"/>
          </p:cNvSpPr>
          <p:nvPr/>
        </p:nvSpPr>
        <p:spPr>
          <a:xfrm>
            <a:off x="61436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FE22E8F-EC4D-4BB9-B8A5-B0C7DC9F6D84}"/>
              </a:ext>
            </a:extLst>
          </p:cNvPr>
          <p:cNvSpPr>
            <a:spLocks noGrp="1"/>
          </p:cNvSpPr>
          <p:nvPr/>
        </p:nvSpPr>
        <p:spPr>
          <a:xfrm>
            <a:off x="66198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CCCDCA7-B9AE-4E40-8801-9B85BADE323F}"/>
              </a:ext>
            </a:extLst>
          </p:cNvPr>
          <p:cNvSpPr>
            <a:spLocks noGrp="1"/>
          </p:cNvSpPr>
          <p:nvPr/>
        </p:nvSpPr>
        <p:spPr>
          <a:xfrm>
            <a:off x="70961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632FD46-91D6-4723-B815-A2D818DD5DFA}"/>
              </a:ext>
            </a:extLst>
          </p:cNvPr>
          <p:cNvSpPr>
            <a:spLocks noGrp="1"/>
          </p:cNvSpPr>
          <p:nvPr/>
        </p:nvSpPr>
        <p:spPr>
          <a:xfrm>
            <a:off x="75723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811F336-F5CD-4DCC-BCA8-CEEC1D0F000C}"/>
              </a:ext>
            </a:extLst>
          </p:cNvPr>
          <p:cNvSpPr>
            <a:spLocks noGrp="1"/>
          </p:cNvSpPr>
          <p:nvPr/>
        </p:nvSpPr>
        <p:spPr>
          <a:xfrm>
            <a:off x="80486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73168EA-A115-4EC8-8CB6-742EA9D9BE3D}"/>
              </a:ext>
            </a:extLst>
          </p:cNvPr>
          <p:cNvSpPr>
            <a:spLocks noGrp="1"/>
          </p:cNvSpPr>
          <p:nvPr/>
        </p:nvSpPr>
        <p:spPr>
          <a:xfrm>
            <a:off x="85248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70CAD60-8A0A-4D17-BC88-E9C92D0C2366}"/>
              </a:ext>
            </a:extLst>
          </p:cNvPr>
          <p:cNvSpPr>
            <a:spLocks noGrp="1"/>
          </p:cNvSpPr>
          <p:nvPr/>
        </p:nvSpPr>
        <p:spPr>
          <a:xfrm>
            <a:off x="90011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7C9B01E-098B-4098-9AC6-D48A2BFDE701}"/>
              </a:ext>
            </a:extLst>
          </p:cNvPr>
          <p:cNvSpPr>
            <a:spLocks noGrp="1"/>
          </p:cNvSpPr>
          <p:nvPr/>
        </p:nvSpPr>
        <p:spPr>
          <a:xfrm>
            <a:off x="94773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20C7F51-D257-42D8-9CEA-7066EBBFBE76}"/>
              </a:ext>
            </a:extLst>
          </p:cNvPr>
          <p:cNvSpPr>
            <a:spLocks noGrp="1"/>
          </p:cNvSpPr>
          <p:nvPr/>
        </p:nvSpPr>
        <p:spPr>
          <a:xfrm>
            <a:off x="714375" y="3048000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Identificar riesgos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66EC756-BE35-4C18-A4A2-9530524B35A6}"/>
              </a:ext>
            </a:extLst>
          </p:cNvPr>
          <p:cNvSpPr>
            <a:spLocks noGrp="1"/>
          </p:cNvSpPr>
          <p:nvPr/>
        </p:nvSpPr>
        <p:spPr>
          <a:xfrm>
            <a:off x="5191125" y="3086100"/>
            <a:ext cx="876300" cy="266700"/>
          </a:xfrm>
          <a:prstGeom prst="rect">
            <a:avLst/>
          </a:prstGeom>
          <a:solidFill>
            <a:srgbClr val="ADBBD0"/>
          </a:solidFill>
          <a:ln w="0">
            <a:noFill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857CC2D-771E-4AAB-A2DE-62D54E4E3E0D}"/>
              </a:ext>
            </a:extLst>
          </p:cNvPr>
          <p:cNvSpPr>
            <a:spLocks noGrp="1"/>
          </p:cNvSpPr>
          <p:nvPr/>
        </p:nvSpPr>
        <p:spPr>
          <a:xfrm>
            <a:off x="714375" y="3552825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Valorar prioridad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87EC229-663F-4293-B586-FB758048C9A9}"/>
              </a:ext>
            </a:extLst>
          </p:cNvPr>
          <p:cNvSpPr>
            <a:spLocks noGrp="1"/>
          </p:cNvSpPr>
          <p:nvPr/>
        </p:nvSpPr>
        <p:spPr>
          <a:xfrm>
            <a:off x="6143625" y="3590925"/>
            <a:ext cx="876300" cy="266700"/>
          </a:xfrm>
          <a:prstGeom prst="rect">
            <a:avLst/>
          </a:prstGeom>
          <a:solidFill>
            <a:srgbClr val="ADBBD0"/>
          </a:solidFill>
          <a:ln w="0">
            <a:noFill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015910F-5CF5-47EF-967B-9376AF136086}"/>
              </a:ext>
            </a:extLst>
          </p:cNvPr>
          <p:cNvSpPr>
            <a:spLocks noGrp="1"/>
          </p:cNvSpPr>
          <p:nvPr/>
        </p:nvSpPr>
        <p:spPr>
          <a:xfrm>
            <a:off x="714375" y="4057650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Estimar consecuencias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FE882CE-E7B2-4A5D-AC02-649A6E429E80}"/>
              </a:ext>
            </a:extLst>
          </p:cNvPr>
          <p:cNvSpPr>
            <a:spLocks noGrp="1"/>
          </p:cNvSpPr>
          <p:nvPr/>
        </p:nvSpPr>
        <p:spPr>
          <a:xfrm>
            <a:off x="7096125" y="4095750"/>
            <a:ext cx="400050" cy="266700"/>
          </a:xfrm>
          <a:prstGeom prst="rect">
            <a:avLst/>
          </a:prstGeom>
          <a:solidFill>
            <a:srgbClr val="ADBBD0"/>
          </a:solidFill>
          <a:ln w="0">
            <a:noFill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E7D7BA0-63DB-4E32-9A91-7C5761671FEC}"/>
              </a:ext>
            </a:extLst>
          </p:cNvPr>
          <p:cNvSpPr>
            <a:spLocks noGrp="1"/>
          </p:cNvSpPr>
          <p:nvPr/>
        </p:nvSpPr>
        <p:spPr>
          <a:xfrm>
            <a:off x="714375" y="4562475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Definir respuestas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E093255-CBB2-48A7-90F0-D2E15A9F3560}"/>
              </a:ext>
            </a:extLst>
          </p:cNvPr>
          <p:cNvSpPr>
            <a:spLocks noGrp="1"/>
          </p:cNvSpPr>
          <p:nvPr/>
        </p:nvSpPr>
        <p:spPr>
          <a:xfrm>
            <a:off x="7572375" y="4600575"/>
            <a:ext cx="1352550" cy="266700"/>
          </a:xfrm>
          <a:prstGeom prst="rect">
            <a:avLst/>
          </a:prstGeom>
          <a:solidFill>
            <a:srgbClr val="ADBBD0"/>
          </a:solidFill>
          <a:ln w="0">
            <a:noFill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F25EC5D-B7A0-4425-920F-924A43241F6B}"/>
              </a:ext>
            </a:extLst>
          </p:cNvPr>
          <p:cNvSpPr>
            <a:spLocks noGrp="1"/>
          </p:cNvSpPr>
          <p:nvPr/>
        </p:nvSpPr>
        <p:spPr>
          <a:xfrm>
            <a:off x="714375" y="5067300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Revisar y documentar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760EB12-1E15-4D28-96D1-07E004FD29F4}"/>
              </a:ext>
            </a:extLst>
          </p:cNvPr>
          <p:cNvSpPr>
            <a:spLocks noGrp="1"/>
          </p:cNvSpPr>
          <p:nvPr/>
        </p:nvSpPr>
        <p:spPr>
          <a:xfrm>
            <a:off x="9001125" y="5105400"/>
            <a:ext cx="876300" cy="266700"/>
          </a:xfrm>
          <a:prstGeom prst="rect">
            <a:avLst/>
          </a:prstGeom>
          <a:solidFill>
            <a:srgbClr val="ADBBD0"/>
          </a:solidFill>
          <a:ln w="0">
            <a:noFill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BA0CACC-D8DE-44FC-B5A4-92307FC37DD6}"/>
              </a:ext>
            </a:extLst>
          </p:cNvPr>
          <p:cNvSpPr>
            <a:spLocks noGrp="1"/>
          </p:cNvSpPr>
          <p:nvPr/>
        </p:nvSpPr>
        <p:spPr>
          <a:xfrm>
            <a:off x="714375" y="60007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Duración total: 10 días. Cada actividad comienza al terminar la anterior.</a:t>
            </a:r>
          </a:p>
        </p:txBody>
      </p:sp>
    </p:spTree>
    <p:extLst>
      <p:ext uri="{BB962C8B-B14F-4D97-AF65-F5344CB8AC3E}">
        <p14:creationId xmlns:p14="http://schemas.microsoft.com/office/powerpoint/2010/main" val="1273463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93092D1E-C030-472D-A523-CB32F11AB455}"/>
              </a:ext>
            </a:extLst>
          </p:cNvPr>
          <p:cNvSpPr>
            <a:spLocks noGrp="1"/>
          </p:cNvSpPr>
          <p:nvPr/>
        </p:nvSpPr>
        <p:spPr>
          <a:xfrm>
            <a:off x="762000" y="3810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TURNOCAMPUS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6B56455-DBD1-4EC8-87F6-A6CFCCBB692A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Cronograma de gestión de riesgos: TurnoCampus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1D306FF-DC49-4E27-A015-4723B3DC2C2C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C0C41CA-23DD-49F9-B522-15441254CAFA}"/>
              </a:ext>
            </a:extLst>
          </p:cNvPr>
          <p:cNvSpPr>
            <a:spLocks noGrp="1"/>
          </p:cNvSpPr>
          <p:nvPr/>
        </p:nvSpPr>
        <p:spPr>
          <a:xfrm>
            <a:off x="714375" y="1981200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549B5D8-A67F-4787-A514-CC67A9BE4BBD}"/>
              </a:ext>
            </a:extLst>
          </p:cNvPr>
          <p:cNvSpPr>
            <a:spLocks noGrp="1"/>
          </p:cNvSpPr>
          <p:nvPr/>
        </p:nvSpPr>
        <p:spPr>
          <a:xfrm>
            <a:off x="5191125" y="1981200"/>
            <a:ext cx="6048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Días laborables del ejercicio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6A0630D-297C-4E8E-A345-A97888C2CA57}"/>
              </a:ext>
            </a:extLst>
          </p:cNvPr>
          <p:cNvSpPr>
            <a:spLocks noGrp="1"/>
          </p:cNvSpPr>
          <p:nvPr/>
        </p:nvSpPr>
        <p:spPr>
          <a:xfrm>
            <a:off x="51911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AEC4BC4-F9BC-4A03-AE6B-F6C6B911DA0E}"/>
              </a:ext>
            </a:extLst>
          </p:cNvPr>
          <p:cNvSpPr>
            <a:spLocks noGrp="1"/>
          </p:cNvSpPr>
          <p:nvPr/>
        </p:nvSpPr>
        <p:spPr>
          <a:xfrm>
            <a:off x="56673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54F8CB3-07AF-4B05-B705-FA21ACFB2960}"/>
              </a:ext>
            </a:extLst>
          </p:cNvPr>
          <p:cNvSpPr>
            <a:spLocks noGrp="1"/>
          </p:cNvSpPr>
          <p:nvPr/>
        </p:nvSpPr>
        <p:spPr>
          <a:xfrm>
            <a:off x="61436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2133503-4320-4A66-B6D9-E63F4096AC9D}"/>
              </a:ext>
            </a:extLst>
          </p:cNvPr>
          <p:cNvSpPr>
            <a:spLocks noGrp="1"/>
          </p:cNvSpPr>
          <p:nvPr/>
        </p:nvSpPr>
        <p:spPr>
          <a:xfrm>
            <a:off x="66198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2AFA1A7-CCAA-459B-B6CF-CF4B39F18EF6}"/>
              </a:ext>
            </a:extLst>
          </p:cNvPr>
          <p:cNvSpPr>
            <a:spLocks noGrp="1"/>
          </p:cNvSpPr>
          <p:nvPr/>
        </p:nvSpPr>
        <p:spPr>
          <a:xfrm>
            <a:off x="70961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951F6DD-F559-4F56-A482-688EF054776C}"/>
              </a:ext>
            </a:extLst>
          </p:cNvPr>
          <p:cNvSpPr>
            <a:spLocks noGrp="1"/>
          </p:cNvSpPr>
          <p:nvPr/>
        </p:nvSpPr>
        <p:spPr>
          <a:xfrm>
            <a:off x="75723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B7CCB2-B963-4544-A084-018E045A6406}"/>
              </a:ext>
            </a:extLst>
          </p:cNvPr>
          <p:cNvSpPr>
            <a:spLocks noGrp="1"/>
          </p:cNvSpPr>
          <p:nvPr/>
        </p:nvSpPr>
        <p:spPr>
          <a:xfrm>
            <a:off x="80486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76DEB86-A52B-475B-99E8-BA821F748671}"/>
              </a:ext>
            </a:extLst>
          </p:cNvPr>
          <p:cNvSpPr>
            <a:spLocks noGrp="1"/>
          </p:cNvSpPr>
          <p:nvPr/>
        </p:nvSpPr>
        <p:spPr>
          <a:xfrm>
            <a:off x="85248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62F8D49-74FC-4FA7-905A-67D3445FF33E}"/>
              </a:ext>
            </a:extLst>
          </p:cNvPr>
          <p:cNvSpPr>
            <a:spLocks noGrp="1"/>
          </p:cNvSpPr>
          <p:nvPr/>
        </p:nvSpPr>
        <p:spPr>
          <a:xfrm>
            <a:off x="90011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AA81BBD-B06E-4FB5-B322-EA0485C20285}"/>
              </a:ext>
            </a:extLst>
          </p:cNvPr>
          <p:cNvSpPr>
            <a:spLocks noGrp="1"/>
          </p:cNvSpPr>
          <p:nvPr/>
        </p:nvSpPr>
        <p:spPr>
          <a:xfrm>
            <a:off x="94773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B71DCE7-6E1C-4ED3-81F7-36B2386ADA65}"/>
              </a:ext>
            </a:extLst>
          </p:cNvPr>
          <p:cNvSpPr>
            <a:spLocks noGrp="1"/>
          </p:cNvSpPr>
          <p:nvPr/>
        </p:nvSpPr>
        <p:spPr>
          <a:xfrm>
            <a:off x="99536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5ED52A8-29ED-4806-8FF5-89435DFA4146}"/>
              </a:ext>
            </a:extLst>
          </p:cNvPr>
          <p:cNvSpPr>
            <a:spLocks noGrp="1"/>
          </p:cNvSpPr>
          <p:nvPr/>
        </p:nvSpPr>
        <p:spPr>
          <a:xfrm>
            <a:off x="104298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A42D957-6B2A-4489-9612-1152F896F09F}"/>
              </a:ext>
            </a:extLst>
          </p:cNvPr>
          <p:cNvSpPr>
            <a:spLocks noGrp="1"/>
          </p:cNvSpPr>
          <p:nvPr/>
        </p:nvSpPr>
        <p:spPr>
          <a:xfrm>
            <a:off x="714375" y="3048000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Identificar riesgos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C264E5F-5655-4CBE-A8EC-A6D1DAB6747E}"/>
              </a:ext>
            </a:extLst>
          </p:cNvPr>
          <p:cNvSpPr>
            <a:spLocks noGrp="1"/>
          </p:cNvSpPr>
          <p:nvPr/>
        </p:nvSpPr>
        <p:spPr>
          <a:xfrm>
            <a:off x="5191125" y="3086100"/>
            <a:ext cx="876300" cy="266700"/>
          </a:xfrm>
          <a:prstGeom prst="rect">
            <a:avLst/>
          </a:prstGeom>
          <a:solidFill>
            <a:srgbClr val="ADBBD0"/>
          </a:solidFill>
          <a:ln w="0">
            <a:noFill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EDB606F-1A86-459C-A033-F4129E0A1572}"/>
              </a:ext>
            </a:extLst>
          </p:cNvPr>
          <p:cNvSpPr>
            <a:spLocks noGrp="1"/>
          </p:cNvSpPr>
          <p:nvPr/>
        </p:nvSpPr>
        <p:spPr>
          <a:xfrm>
            <a:off x="714375" y="3552825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Valorar prioridad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5C0A2F3-B6FA-4DAB-86AF-81E363714C75}"/>
              </a:ext>
            </a:extLst>
          </p:cNvPr>
          <p:cNvSpPr>
            <a:spLocks noGrp="1"/>
          </p:cNvSpPr>
          <p:nvPr/>
        </p:nvSpPr>
        <p:spPr>
          <a:xfrm>
            <a:off x="6143625" y="3590925"/>
            <a:ext cx="876300" cy="266700"/>
          </a:xfrm>
          <a:prstGeom prst="rect">
            <a:avLst/>
          </a:prstGeom>
          <a:solidFill>
            <a:srgbClr val="ADBBD0"/>
          </a:solidFill>
          <a:ln w="0">
            <a:noFill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F51A4D2-72AF-4EED-87F2-04A8F6C607F6}"/>
              </a:ext>
            </a:extLst>
          </p:cNvPr>
          <p:cNvSpPr>
            <a:spLocks noGrp="1"/>
          </p:cNvSpPr>
          <p:nvPr/>
        </p:nvSpPr>
        <p:spPr>
          <a:xfrm>
            <a:off x="714375" y="4057650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Estimar consecuencias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F2EA3E4-4B1C-491E-BE67-6B96BCEA2F70}"/>
              </a:ext>
            </a:extLst>
          </p:cNvPr>
          <p:cNvSpPr>
            <a:spLocks noGrp="1"/>
          </p:cNvSpPr>
          <p:nvPr/>
        </p:nvSpPr>
        <p:spPr>
          <a:xfrm>
            <a:off x="7096125" y="4095750"/>
            <a:ext cx="876300" cy="266700"/>
          </a:xfrm>
          <a:prstGeom prst="rect">
            <a:avLst/>
          </a:prstGeom>
          <a:solidFill>
            <a:srgbClr val="ADBBD0"/>
          </a:solidFill>
          <a:ln w="0">
            <a:noFill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CCC0E2D-5E4B-49AE-BE5C-C488B3EC28AA}"/>
              </a:ext>
            </a:extLst>
          </p:cNvPr>
          <p:cNvSpPr>
            <a:spLocks noGrp="1"/>
          </p:cNvSpPr>
          <p:nvPr/>
        </p:nvSpPr>
        <p:spPr>
          <a:xfrm>
            <a:off x="714375" y="4562475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Definir respuestas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AD71B9E-00FA-4054-9209-5F56E8FF7B6B}"/>
              </a:ext>
            </a:extLst>
          </p:cNvPr>
          <p:cNvSpPr>
            <a:spLocks noGrp="1"/>
          </p:cNvSpPr>
          <p:nvPr/>
        </p:nvSpPr>
        <p:spPr>
          <a:xfrm>
            <a:off x="8048625" y="4600575"/>
            <a:ext cx="1352550" cy="266700"/>
          </a:xfrm>
          <a:prstGeom prst="rect">
            <a:avLst/>
          </a:prstGeom>
          <a:solidFill>
            <a:srgbClr val="ADBBD0"/>
          </a:solidFill>
          <a:ln w="0">
            <a:noFill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2BE86C1-EE5F-4DA4-8F63-7FC03CF6AE0B}"/>
              </a:ext>
            </a:extLst>
          </p:cNvPr>
          <p:cNvSpPr>
            <a:spLocks noGrp="1"/>
          </p:cNvSpPr>
          <p:nvPr/>
        </p:nvSpPr>
        <p:spPr>
          <a:xfrm>
            <a:off x="714375" y="5067300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Revisar y documentar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ED265E9-7E7C-4FE2-81C5-416E1E4EF78D}"/>
              </a:ext>
            </a:extLst>
          </p:cNvPr>
          <p:cNvSpPr>
            <a:spLocks noGrp="1"/>
          </p:cNvSpPr>
          <p:nvPr/>
        </p:nvSpPr>
        <p:spPr>
          <a:xfrm>
            <a:off x="9477375" y="5105400"/>
            <a:ext cx="1352550" cy="266700"/>
          </a:xfrm>
          <a:prstGeom prst="rect">
            <a:avLst/>
          </a:prstGeom>
          <a:solidFill>
            <a:srgbClr val="ADBBD0"/>
          </a:solidFill>
          <a:ln w="0">
            <a:noFill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9FF3C0A-0071-4BC1-8BE3-C1CE19CA1CB2}"/>
              </a:ext>
            </a:extLst>
          </p:cNvPr>
          <p:cNvSpPr>
            <a:spLocks noGrp="1"/>
          </p:cNvSpPr>
          <p:nvPr/>
        </p:nvSpPr>
        <p:spPr>
          <a:xfrm>
            <a:off x="714375" y="60007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Duración total: 12 días. Cada actividad comienza al terminar la anterior.</a:t>
            </a:r>
          </a:p>
        </p:txBody>
      </p:sp>
    </p:spTree>
    <p:extLst>
      <p:ext uri="{BB962C8B-B14F-4D97-AF65-F5344CB8AC3E}">
        <p14:creationId xmlns:p14="http://schemas.microsoft.com/office/powerpoint/2010/main" val="799856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F64ED5DF-BC4C-4E98-A6FD-3DBF0F280129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MATERIALCONTROL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B73ACD3-F2F8-463C-8CB2-212D778D18B1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Cronograma de gestión de riesgos: MaterialControl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9E3EC19-1964-49BE-9090-58517B56C749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B2FEB56-B187-4185-9098-4331C1A0EB9E}"/>
              </a:ext>
            </a:extLst>
          </p:cNvPr>
          <p:cNvSpPr>
            <a:spLocks noGrp="1"/>
          </p:cNvSpPr>
          <p:nvPr/>
        </p:nvSpPr>
        <p:spPr>
          <a:xfrm>
            <a:off x="714375" y="1981200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45E7C71-D253-4812-A884-5AB073E1E705}"/>
              </a:ext>
            </a:extLst>
          </p:cNvPr>
          <p:cNvSpPr>
            <a:spLocks noGrp="1"/>
          </p:cNvSpPr>
          <p:nvPr/>
        </p:nvSpPr>
        <p:spPr>
          <a:xfrm>
            <a:off x="5191125" y="1981200"/>
            <a:ext cx="6048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Días laborables del ejercicio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5AE7E97-28E9-4DA6-BE46-C3F7FA334415}"/>
              </a:ext>
            </a:extLst>
          </p:cNvPr>
          <p:cNvSpPr>
            <a:spLocks noGrp="1"/>
          </p:cNvSpPr>
          <p:nvPr/>
        </p:nvSpPr>
        <p:spPr>
          <a:xfrm>
            <a:off x="51911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E9DE523-B5EF-44AA-9321-9251C629BC23}"/>
              </a:ext>
            </a:extLst>
          </p:cNvPr>
          <p:cNvSpPr>
            <a:spLocks noGrp="1"/>
          </p:cNvSpPr>
          <p:nvPr/>
        </p:nvSpPr>
        <p:spPr>
          <a:xfrm>
            <a:off x="56673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AC53D2E-9AEB-4A5A-84B4-81EBA272D659}"/>
              </a:ext>
            </a:extLst>
          </p:cNvPr>
          <p:cNvSpPr>
            <a:spLocks noGrp="1"/>
          </p:cNvSpPr>
          <p:nvPr/>
        </p:nvSpPr>
        <p:spPr>
          <a:xfrm>
            <a:off x="61436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03583FA-D171-4CD7-8BF7-99001FC73355}"/>
              </a:ext>
            </a:extLst>
          </p:cNvPr>
          <p:cNvSpPr>
            <a:spLocks noGrp="1"/>
          </p:cNvSpPr>
          <p:nvPr/>
        </p:nvSpPr>
        <p:spPr>
          <a:xfrm>
            <a:off x="66198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FAF2964-063D-40A0-ADFA-EFE468529B41}"/>
              </a:ext>
            </a:extLst>
          </p:cNvPr>
          <p:cNvSpPr>
            <a:spLocks noGrp="1"/>
          </p:cNvSpPr>
          <p:nvPr/>
        </p:nvSpPr>
        <p:spPr>
          <a:xfrm>
            <a:off x="70961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4414EA3-463C-4B7C-9BDF-AF3FAB3AFA97}"/>
              </a:ext>
            </a:extLst>
          </p:cNvPr>
          <p:cNvSpPr>
            <a:spLocks noGrp="1"/>
          </p:cNvSpPr>
          <p:nvPr/>
        </p:nvSpPr>
        <p:spPr>
          <a:xfrm>
            <a:off x="75723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F2F3450-3235-4D88-BD5D-69316E765D83}"/>
              </a:ext>
            </a:extLst>
          </p:cNvPr>
          <p:cNvSpPr>
            <a:spLocks noGrp="1"/>
          </p:cNvSpPr>
          <p:nvPr/>
        </p:nvSpPr>
        <p:spPr>
          <a:xfrm>
            <a:off x="80486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A9E17BD-4F0D-41C2-A6AF-024D3EF4B14A}"/>
              </a:ext>
            </a:extLst>
          </p:cNvPr>
          <p:cNvSpPr>
            <a:spLocks noGrp="1"/>
          </p:cNvSpPr>
          <p:nvPr/>
        </p:nvSpPr>
        <p:spPr>
          <a:xfrm>
            <a:off x="85248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0144F59-9210-4100-816D-6A9C800481CF}"/>
              </a:ext>
            </a:extLst>
          </p:cNvPr>
          <p:cNvSpPr>
            <a:spLocks noGrp="1"/>
          </p:cNvSpPr>
          <p:nvPr/>
        </p:nvSpPr>
        <p:spPr>
          <a:xfrm>
            <a:off x="90011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F28F2E8-13D6-4C9B-B3C7-811C0EED2322}"/>
              </a:ext>
            </a:extLst>
          </p:cNvPr>
          <p:cNvSpPr>
            <a:spLocks noGrp="1"/>
          </p:cNvSpPr>
          <p:nvPr/>
        </p:nvSpPr>
        <p:spPr>
          <a:xfrm>
            <a:off x="947737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664A00B-3A29-4C7D-BE65-E1C274AF0004}"/>
              </a:ext>
            </a:extLst>
          </p:cNvPr>
          <p:cNvSpPr>
            <a:spLocks noGrp="1"/>
          </p:cNvSpPr>
          <p:nvPr/>
        </p:nvSpPr>
        <p:spPr>
          <a:xfrm>
            <a:off x="9953625" y="2524125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4E1AC32-3465-4811-8CBF-EF7AA03D00AD}"/>
              </a:ext>
            </a:extLst>
          </p:cNvPr>
          <p:cNvSpPr>
            <a:spLocks noGrp="1"/>
          </p:cNvSpPr>
          <p:nvPr/>
        </p:nvSpPr>
        <p:spPr>
          <a:xfrm>
            <a:off x="714375" y="3048000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Identificar riesgos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E1FEF2D-84FE-41D0-87B2-A02E7FF9FDDA}"/>
              </a:ext>
            </a:extLst>
          </p:cNvPr>
          <p:cNvSpPr>
            <a:spLocks noGrp="1"/>
          </p:cNvSpPr>
          <p:nvPr/>
        </p:nvSpPr>
        <p:spPr>
          <a:xfrm>
            <a:off x="5191125" y="3086100"/>
            <a:ext cx="876300" cy="266700"/>
          </a:xfrm>
          <a:prstGeom prst="rect">
            <a:avLst/>
          </a:prstGeom>
          <a:solidFill>
            <a:srgbClr val="ADBBD0"/>
          </a:solidFill>
          <a:ln w="0">
            <a:noFill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E138413-74C4-47FC-9045-FC0CB46E17DA}"/>
              </a:ext>
            </a:extLst>
          </p:cNvPr>
          <p:cNvSpPr>
            <a:spLocks noGrp="1"/>
          </p:cNvSpPr>
          <p:nvPr/>
        </p:nvSpPr>
        <p:spPr>
          <a:xfrm>
            <a:off x="714375" y="3552825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Valorar prioridad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2ABB03E-3820-47E8-A5C2-98A86BC3E6BD}"/>
              </a:ext>
            </a:extLst>
          </p:cNvPr>
          <p:cNvSpPr>
            <a:spLocks noGrp="1"/>
          </p:cNvSpPr>
          <p:nvPr/>
        </p:nvSpPr>
        <p:spPr>
          <a:xfrm>
            <a:off x="6143625" y="3590925"/>
            <a:ext cx="1352550" cy="266700"/>
          </a:xfrm>
          <a:prstGeom prst="rect">
            <a:avLst/>
          </a:prstGeom>
          <a:solidFill>
            <a:srgbClr val="ADBBD0"/>
          </a:solidFill>
          <a:ln w="0">
            <a:noFill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048A408-4107-4167-B839-5F4AF330344F}"/>
              </a:ext>
            </a:extLst>
          </p:cNvPr>
          <p:cNvSpPr>
            <a:spLocks noGrp="1"/>
          </p:cNvSpPr>
          <p:nvPr/>
        </p:nvSpPr>
        <p:spPr>
          <a:xfrm>
            <a:off x="714375" y="4057650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Estimar consecuencias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51056D0-8394-4BA6-8CA9-014E42EB298D}"/>
              </a:ext>
            </a:extLst>
          </p:cNvPr>
          <p:cNvSpPr>
            <a:spLocks noGrp="1"/>
          </p:cNvSpPr>
          <p:nvPr/>
        </p:nvSpPr>
        <p:spPr>
          <a:xfrm>
            <a:off x="7572375" y="4095750"/>
            <a:ext cx="400050" cy="266700"/>
          </a:xfrm>
          <a:prstGeom prst="rect">
            <a:avLst/>
          </a:prstGeom>
          <a:solidFill>
            <a:srgbClr val="ADBBD0"/>
          </a:solidFill>
          <a:ln w="0">
            <a:noFill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D47FE9F-F84C-4556-A749-B7C9926FD0F9}"/>
              </a:ext>
            </a:extLst>
          </p:cNvPr>
          <p:cNvSpPr>
            <a:spLocks noGrp="1"/>
          </p:cNvSpPr>
          <p:nvPr/>
        </p:nvSpPr>
        <p:spPr>
          <a:xfrm>
            <a:off x="714375" y="4562475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Definir respuestas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3F5D873-E9BD-42F5-850C-74E04730635E}"/>
              </a:ext>
            </a:extLst>
          </p:cNvPr>
          <p:cNvSpPr>
            <a:spLocks noGrp="1"/>
          </p:cNvSpPr>
          <p:nvPr/>
        </p:nvSpPr>
        <p:spPr>
          <a:xfrm>
            <a:off x="8048625" y="4600575"/>
            <a:ext cx="1352550" cy="266700"/>
          </a:xfrm>
          <a:prstGeom prst="rect">
            <a:avLst/>
          </a:prstGeom>
          <a:solidFill>
            <a:srgbClr val="ADBBD0"/>
          </a:solidFill>
          <a:ln w="0">
            <a:noFill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D6F0610-6771-4A84-A133-51D3474327C0}"/>
              </a:ext>
            </a:extLst>
          </p:cNvPr>
          <p:cNvSpPr>
            <a:spLocks noGrp="1"/>
          </p:cNvSpPr>
          <p:nvPr/>
        </p:nvSpPr>
        <p:spPr>
          <a:xfrm>
            <a:off x="714375" y="5067300"/>
            <a:ext cx="4143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Revisar y documentar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B17D3A4-4D5F-4149-81D7-18F0FCA9461A}"/>
              </a:ext>
            </a:extLst>
          </p:cNvPr>
          <p:cNvSpPr>
            <a:spLocks noGrp="1"/>
          </p:cNvSpPr>
          <p:nvPr/>
        </p:nvSpPr>
        <p:spPr>
          <a:xfrm>
            <a:off x="9477375" y="5105400"/>
            <a:ext cx="876300" cy="266700"/>
          </a:xfrm>
          <a:prstGeom prst="rect">
            <a:avLst/>
          </a:prstGeom>
          <a:solidFill>
            <a:srgbClr val="ADBBD0"/>
          </a:solidFill>
          <a:ln w="0">
            <a:noFill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6E31C28-257A-4B88-B3ED-644956292308}"/>
              </a:ext>
            </a:extLst>
          </p:cNvPr>
          <p:cNvSpPr>
            <a:spLocks noGrp="1"/>
          </p:cNvSpPr>
          <p:nvPr/>
        </p:nvSpPr>
        <p:spPr>
          <a:xfrm>
            <a:off x="714375" y="6000750"/>
            <a:ext cx="10572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Duración total: 11 días. Cada actividad comienza al terminar la anterior.</a:t>
            </a:r>
          </a:p>
        </p:txBody>
      </p:sp>
    </p:spTree>
    <p:extLst>
      <p:ext uri="{BB962C8B-B14F-4D97-AF65-F5344CB8AC3E}">
        <p14:creationId xmlns:p14="http://schemas.microsoft.com/office/powerpoint/2010/main" val="566128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B691944-8587-4AF1-AD4A-00410D7F861C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Resultado de la planeación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830452-32BF-465E-A37C-B288AC662F23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240CDD2-BCBF-4F4A-9E74-37135E81BCFD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Se organizaron tres riesgos con consecuencias y respuestas específicas. ReservaLab y MaterialControl obtuvieron la prioridad más alta en la escala utilizada. Los cronogramas distribuyen la identificación, valoración y revisión de las respuestas en 10, 12 y 11 días, respectivamente. Esta información permite comparar el trabajo previsto para cada caso.</a:t>
            </a:r>
          </a:p>
        </p:txBody>
      </p:sp>
    </p:spTree>
    <p:extLst>
      <p:ext uri="{BB962C8B-B14F-4D97-AF65-F5344CB8AC3E}">
        <p14:creationId xmlns:p14="http://schemas.microsoft.com/office/powerpoint/2010/main" val="491444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44B97E2-D4F2-4B9D-A53B-BAD20365F06C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10572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E9B88A8-E4D1-43A3-9F20-7C6F159B52CB}"/>
              </a:ext>
            </a:extLst>
          </p:cNvPr>
          <p:cNvSpPr>
            <a:spLocks noGrp="1"/>
          </p:cNvSpPr>
          <p:nvPr/>
        </p:nvSpPr>
        <p:spPr>
          <a:xfrm>
            <a:off x="10858500" y="6267450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C8CE77E-98CF-4F4F-97A2-5D677E0F280E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477500" cy="3524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222D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D4A"/>
                </a:solidFill>
                <a:latin typeface="Arial"/>
                <a:ea typeface="Arial"/>
                <a:cs typeface="Arial"/>
              </a:rPr>
              <a:t>La gestión de riesgos permite revisar lo que podría salir mal y decidir cómo atenderlo. En los tres proyectos, las respuestas se relacionan con el problema concreto del usuario: respetar una reserva, mantener una cita o registrar correctamente los materiales. Organizar estas acciones y sus responsables ayuda a dar seguimiento al proyecto con mayor claridad.</a:t>
            </a:r>
          </a:p>
        </p:txBody>
      </p:sp>
    </p:spTree>
    <p:extLst>
      <p:ext uri="{BB962C8B-B14F-4D97-AF65-F5344CB8AC3E}">
        <p14:creationId xmlns:p14="http://schemas.microsoft.com/office/powerpoint/2010/main" val="16900220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774</Words>
  <Application>Microsoft Office PowerPoint</Application>
  <DocSecurity>0</DocSecurity>
  <PresentationFormat>Panorámica</PresentationFormat>
  <Paragraphs>175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Arial</vt:lpstr>
      <vt:lpstr>Century Gothic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Belen</cp:lastModifiedBy>
  <cp:revision>1</cp:revision>
  <dcterms:created xsi:type="dcterms:W3CDTF">2026-10-04T03:38:36Z</dcterms:created>
  <dcterms:modified xsi:type="dcterms:W3CDTF">2026-10-04T09:42:44Z</dcterms:modified>
</cp:coreProperties>
</file>